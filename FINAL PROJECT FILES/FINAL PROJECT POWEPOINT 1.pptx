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965BF"/>
    <a:srgbClr val="DB4565"/>
    <a:srgbClr val="CB1366"/>
    <a:srgbClr val="B10B3E"/>
    <a:srgbClr val="71051F"/>
    <a:srgbClr val="FF3399"/>
    <a:srgbClr val="FF0066"/>
    <a:srgbClr val="B3058E"/>
    <a:srgbClr val="66065F"/>
    <a:srgbClr val="4105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44" autoAdjust="0"/>
    <p:restoredTop sz="94660"/>
  </p:normalViewPr>
  <p:slideViewPr>
    <p:cSldViewPr snapToGrid="0">
      <p:cViewPr varScale="1">
        <p:scale>
          <a:sx n="70" d="100"/>
          <a:sy n="70" d="100"/>
        </p:scale>
        <p:origin x="8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A129A-E753-4C03-A029-09EE9790CB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1C1C9C-72EF-433E-9704-0ECA0AE527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196C1-760E-44A9-8E6C-71A661592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C54A1-1E24-4FF4-A781-73AF8FC13BDD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F1C6B-FEBF-40AF-93F7-F8CF6C3E5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05524-872A-488E-96F8-F3E9798F4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BBFC1-9CF9-421F-9B70-0F35877518F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685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DED4A-FD58-4955-B9C3-068E292CA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A18DC-BFC6-4C9A-9BF8-372BF7749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9653A-D771-4ECA-B13A-BDF7D84E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C54A1-1E24-4FF4-A781-73AF8FC13BDD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C3E37A-3BCA-46A5-ADE6-728D8B056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10C70A-F16B-486B-8226-9E1560F35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BBFC1-9CF9-421F-9B70-0F35877518F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680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EF9AD-61D1-46C6-B612-2A7761040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4C1C00-F421-4CC0-B79E-563EA3F054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52012-7B02-49F4-BB09-5186585EA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C54A1-1E24-4FF4-A781-73AF8FC13BDD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26834-1D5C-418D-ABD4-58219D4DE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F5A2-250B-46E4-B896-E615260CF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BBFC1-9CF9-421F-9B70-0F35877518F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966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071FE-B58A-4896-97CE-A07C934D1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F92D5-1912-42B1-A205-6A93C1BEA4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B767D2-5809-4989-8EAB-D70CAF3C52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63C7A8-8A6E-4FB6-B567-16707CA28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C54A1-1E24-4FF4-A781-73AF8FC13BDD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72BBF8-1DDF-40D2-9A22-7106BC4EC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50A18A-7666-41F0-A9A1-F2CDA5D7B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BBFC1-9CF9-421F-9B70-0F35877518F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448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D06C7-CB38-465F-B14B-D99192BF3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FC7F3-15EB-4995-9DEF-CAE502014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67A709-2417-4AD7-81C9-3830EEE4D6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60D9EE-0C80-4CC5-95D7-F844748968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F55BC7-5293-4FFC-A2C0-9DC778BA5A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DFD309-93E0-4040-9687-532A87F62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C54A1-1E24-4FF4-A781-73AF8FC13BDD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865A0F-8237-48C0-804E-9DBF6B40D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CE8382-9F2A-4E56-A68D-566403445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BBFC1-9CF9-421F-9B70-0F35877518F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157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A3013-48A6-42FB-BEC6-E1F88F077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35A441-2773-4FB4-9E44-034A1B3C3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C54A1-1E24-4FF4-A781-73AF8FC13BDD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87C72C-664F-4737-A96A-585AB94C0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5DCF1A-4CCD-425E-B420-D5EE7BF6B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BBFC1-9CF9-421F-9B70-0F35877518F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166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3E26F7-F4EB-47C3-AE22-DC896EC2B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C54A1-1E24-4FF4-A781-73AF8FC13BDD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B8C36D-F9D1-43E6-BF95-41D2EC055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FC3469-2F5E-48BB-B1CC-FC43678EA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BBFC1-9CF9-421F-9B70-0F35877518F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677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A1E08-51C7-451C-A4D7-BC734ED96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0FBC3-F0C7-4937-9EC4-6384243EC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E44D68-52F3-478D-AB30-7619517AE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0EFCCB-2489-4E0A-9A16-2DFB5A429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C54A1-1E24-4FF4-A781-73AF8FC13BDD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E2EFBC-BE2E-4D54-8BEB-A367F88A0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418E65-46C5-46E2-8E86-991A1FE93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BBFC1-9CF9-421F-9B70-0F35877518F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264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A8DC3-5055-4997-8DDB-B0C909D4F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1F5845-CC39-4BBC-8D49-31D3DFE0A5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D78FD0-9454-4572-BE32-18074C6D58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D93C67-91D2-4173-9A09-8C17BB251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C54A1-1E24-4FF4-A781-73AF8FC13BDD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C9AD04-E34D-4BFB-BBDE-11C25CBEB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8EE42-6E42-4FD2-85A0-E4B8DF710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BBFC1-9CF9-421F-9B70-0F35877518F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398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E49AF-E866-4610-8C11-8F8538067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BAAF61-DC71-4AF4-882F-3F0044CAFF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03238-B7DA-42B0-B2C6-0D2CE03BF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C54A1-1E24-4FF4-A781-73AF8FC13BDD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1A510-860C-43D3-A979-5F60A5686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6F82A-384D-40E9-B6F7-724652023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BBFC1-9CF9-421F-9B70-0F35877518F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379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8DC111-5E32-4998-873C-1B118583D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C31839-6508-4223-8F52-47D1AB9AFB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12351-CDA8-4029-9B45-F23AB085B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C54A1-1E24-4FF4-A781-73AF8FC13BDD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0001FF-1AC8-429F-9866-EF9033D7A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5615E-8558-4CB7-9F9B-AACC1EEE9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BBFC1-9CF9-421F-9B70-0F35877518F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522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34548B-6E4A-4F24-AAE4-AE1AAB9F8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814C6-C84E-4977-A54F-A7D0E854E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DFC60-A16D-4811-8756-E570D071F4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AC54A1-1E24-4FF4-A781-73AF8FC13BDD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F40B0F-8A70-402F-AB45-4388EF7AB9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6928F-AE80-4B9C-AC47-9A8EC4161C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CBBFC1-9CF9-421F-9B70-0F35877518F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297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www.picpedia.org/highway-signs/s/stocks-and-shares.html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2D233F-C7D7-46E6-9DC3-7290DF6239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A4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07E60B-5E8E-4278-94E9-39577747CED3}"/>
              </a:ext>
            </a:extLst>
          </p:cNvPr>
          <p:cNvSpPr txBox="1"/>
          <p:nvPr/>
        </p:nvSpPr>
        <p:spPr>
          <a:xfrm>
            <a:off x="940467" y="2040314"/>
            <a:ext cx="1029903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b="1" dirty="0">
                <a:solidFill>
                  <a:srgbClr val="FF0066"/>
                </a:solidFill>
                <a:latin typeface="Arial Black" panose="020B0A04020102020204" pitchFamily="34" charset="0"/>
              </a:rPr>
              <a:t>INVESTING IN STOCKS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AD154BD-51FE-43E1-BF84-E0F4DDC01BE5}"/>
              </a:ext>
            </a:extLst>
          </p:cNvPr>
          <p:cNvSpPr/>
          <p:nvPr/>
        </p:nvSpPr>
        <p:spPr>
          <a:xfrm>
            <a:off x="304800" y="-1042416"/>
            <a:ext cx="3657600" cy="2084832"/>
          </a:xfrm>
          <a:prstGeom prst="roundRect">
            <a:avLst/>
          </a:prstGeom>
          <a:solidFill>
            <a:srgbClr val="7105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89986A9-0E54-46DB-9514-2C0E2FA55DE1}"/>
              </a:ext>
            </a:extLst>
          </p:cNvPr>
          <p:cNvSpPr/>
          <p:nvPr/>
        </p:nvSpPr>
        <p:spPr>
          <a:xfrm>
            <a:off x="4261183" y="-1042416"/>
            <a:ext cx="3657600" cy="2084832"/>
          </a:xfrm>
          <a:prstGeom prst="roundRect">
            <a:avLst/>
          </a:prstGeom>
          <a:solidFill>
            <a:srgbClr val="B10B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099E328-5535-47C4-B1C6-65BF7E7AFEFA}"/>
              </a:ext>
            </a:extLst>
          </p:cNvPr>
          <p:cNvSpPr/>
          <p:nvPr/>
        </p:nvSpPr>
        <p:spPr>
          <a:xfrm>
            <a:off x="8217566" y="-1042416"/>
            <a:ext cx="3657600" cy="2084832"/>
          </a:xfrm>
          <a:prstGeom prst="roundRect">
            <a:avLst/>
          </a:prstGeom>
          <a:solidFill>
            <a:srgbClr val="CB1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DF2AC55-5EA9-4AF3-93D3-A9F01D64DC53}"/>
              </a:ext>
            </a:extLst>
          </p:cNvPr>
          <p:cNvSpPr/>
          <p:nvPr/>
        </p:nvSpPr>
        <p:spPr>
          <a:xfrm>
            <a:off x="8217566" y="5838980"/>
            <a:ext cx="3657600" cy="2084832"/>
          </a:xfrm>
          <a:prstGeom prst="roundRect">
            <a:avLst/>
          </a:prstGeom>
          <a:solidFill>
            <a:srgbClr val="B965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B7AE608-6BB2-4B84-87A3-740818548238}"/>
              </a:ext>
            </a:extLst>
          </p:cNvPr>
          <p:cNvSpPr/>
          <p:nvPr/>
        </p:nvSpPr>
        <p:spPr>
          <a:xfrm>
            <a:off x="4261183" y="5815584"/>
            <a:ext cx="3657600" cy="2084832"/>
          </a:xfrm>
          <a:prstGeom prst="roundRect">
            <a:avLst/>
          </a:prstGeom>
          <a:solidFill>
            <a:srgbClr val="DB45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3399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B9C95F2-DC25-4F7D-B3D6-45B217380EAC}"/>
              </a:ext>
            </a:extLst>
          </p:cNvPr>
          <p:cNvSpPr/>
          <p:nvPr/>
        </p:nvSpPr>
        <p:spPr>
          <a:xfrm>
            <a:off x="304800" y="5815584"/>
            <a:ext cx="3657600" cy="2084832"/>
          </a:xfrm>
          <a:prstGeom prst="roundRect">
            <a:avLst/>
          </a:prstGeom>
          <a:solidFill>
            <a:srgbClr val="FF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897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2D233F-C7D7-46E6-9DC3-7290DF6239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A4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07E60B-5E8E-4278-94E9-39577747CED3}"/>
              </a:ext>
            </a:extLst>
          </p:cNvPr>
          <p:cNvSpPr txBox="1"/>
          <p:nvPr/>
        </p:nvSpPr>
        <p:spPr>
          <a:xfrm>
            <a:off x="-9577137" y="1293644"/>
            <a:ext cx="10299032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b="1" dirty="0">
                <a:solidFill>
                  <a:srgbClr val="FF0066"/>
                </a:solidFill>
                <a:latin typeface="Arial Black" panose="020B0A04020102020204" pitchFamily="34" charset="0"/>
              </a:rPr>
              <a:t>INVESTING IN STOCKS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D881DD1-3398-4762-A01E-839919444D41}"/>
              </a:ext>
            </a:extLst>
          </p:cNvPr>
          <p:cNvSpPr/>
          <p:nvPr/>
        </p:nvSpPr>
        <p:spPr>
          <a:xfrm>
            <a:off x="8157900" y="3539225"/>
            <a:ext cx="3657600" cy="2084832"/>
          </a:xfrm>
          <a:prstGeom prst="roundRect">
            <a:avLst/>
          </a:prstGeom>
          <a:solidFill>
            <a:srgbClr val="B965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B5C956D-3A60-4DD4-B95A-B99BFA545180}"/>
              </a:ext>
            </a:extLst>
          </p:cNvPr>
          <p:cNvSpPr/>
          <p:nvPr/>
        </p:nvSpPr>
        <p:spPr>
          <a:xfrm>
            <a:off x="4335380" y="1322638"/>
            <a:ext cx="3657600" cy="2084832"/>
          </a:xfrm>
          <a:prstGeom prst="roundRect">
            <a:avLst/>
          </a:prstGeom>
          <a:solidFill>
            <a:srgbClr val="B10B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F8EEB5-FEDC-4366-A2A1-C0EF1D22F8B1}"/>
              </a:ext>
            </a:extLst>
          </p:cNvPr>
          <p:cNvSpPr txBox="1"/>
          <p:nvPr/>
        </p:nvSpPr>
        <p:spPr>
          <a:xfrm>
            <a:off x="4473982" y="1890904"/>
            <a:ext cx="33036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TYPES OF STOCKS</a:t>
            </a:r>
            <a:endParaRPr lang="en-US" sz="40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F78ACC6-547B-4FA1-A2D1-1576D0248BE7}"/>
              </a:ext>
            </a:extLst>
          </p:cNvPr>
          <p:cNvSpPr/>
          <p:nvPr/>
        </p:nvSpPr>
        <p:spPr>
          <a:xfrm>
            <a:off x="529395" y="1344168"/>
            <a:ext cx="3657600" cy="2084832"/>
          </a:xfrm>
          <a:prstGeom prst="roundRect">
            <a:avLst/>
          </a:prstGeom>
          <a:solidFill>
            <a:srgbClr val="7105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E1B7C6-077D-4B52-9C68-1E1EF17351BB}"/>
              </a:ext>
            </a:extLst>
          </p:cNvPr>
          <p:cNvSpPr txBox="1"/>
          <p:nvPr/>
        </p:nvSpPr>
        <p:spPr>
          <a:xfrm>
            <a:off x="767008" y="2167902"/>
            <a:ext cx="3303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STOCKS</a:t>
            </a:r>
            <a:endParaRPr lang="en-US" sz="40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7040E5E-DF02-43F6-A3C2-61444448ADDC}"/>
              </a:ext>
            </a:extLst>
          </p:cNvPr>
          <p:cNvSpPr/>
          <p:nvPr/>
        </p:nvSpPr>
        <p:spPr>
          <a:xfrm>
            <a:off x="8141367" y="1293640"/>
            <a:ext cx="3657600" cy="2084832"/>
          </a:xfrm>
          <a:prstGeom prst="roundRect">
            <a:avLst/>
          </a:prstGeom>
          <a:solidFill>
            <a:srgbClr val="CB1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BD0E26-C026-4D38-A3E5-97F8F1D81702}"/>
              </a:ext>
            </a:extLst>
          </p:cNvPr>
          <p:cNvSpPr txBox="1"/>
          <p:nvPr/>
        </p:nvSpPr>
        <p:spPr>
          <a:xfrm>
            <a:off x="8204941" y="1608373"/>
            <a:ext cx="330367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STOCK BROKER</a:t>
            </a:r>
            <a:endParaRPr lang="en-US" sz="48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9ADF062-D447-4895-BE30-024B4D3A94D8}"/>
              </a:ext>
            </a:extLst>
          </p:cNvPr>
          <p:cNvSpPr/>
          <p:nvPr/>
        </p:nvSpPr>
        <p:spPr>
          <a:xfrm>
            <a:off x="519903" y="3585005"/>
            <a:ext cx="3657600" cy="2084832"/>
          </a:xfrm>
          <a:prstGeom prst="roundRect">
            <a:avLst/>
          </a:prstGeom>
          <a:solidFill>
            <a:srgbClr val="FF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1B56B9E-28FA-4DAF-9F9E-6C191FDF233F}"/>
              </a:ext>
            </a:extLst>
          </p:cNvPr>
          <p:cNvSpPr txBox="1"/>
          <p:nvPr/>
        </p:nvSpPr>
        <p:spPr>
          <a:xfrm>
            <a:off x="234676" y="4183600"/>
            <a:ext cx="39541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DIVIDENDS</a:t>
            </a:r>
            <a:endParaRPr lang="en-US" sz="4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94614A3-876F-4462-9B13-4D68FA7DE078}"/>
              </a:ext>
            </a:extLst>
          </p:cNvPr>
          <p:cNvSpPr/>
          <p:nvPr/>
        </p:nvSpPr>
        <p:spPr>
          <a:xfrm>
            <a:off x="4327068" y="3556683"/>
            <a:ext cx="3657600" cy="2084832"/>
          </a:xfrm>
          <a:prstGeom prst="roundRect">
            <a:avLst/>
          </a:prstGeom>
          <a:solidFill>
            <a:srgbClr val="DB45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3399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B44CC3C-528D-4894-B3FB-7B843D1EA8B3}"/>
              </a:ext>
            </a:extLst>
          </p:cNvPr>
          <p:cNvSpPr txBox="1"/>
          <p:nvPr/>
        </p:nvSpPr>
        <p:spPr>
          <a:xfrm>
            <a:off x="4050632" y="3613392"/>
            <a:ext cx="4090735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NIGERIAN STOCK MARKET</a:t>
            </a:r>
            <a:endParaRPr lang="en-US" sz="4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F8EA65-783D-4374-A0B8-3F8AC10C74FB}"/>
              </a:ext>
            </a:extLst>
          </p:cNvPr>
          <p:cNvSpPr txBox="1"/>
          <p:nvPr/>
        </p:nvSpPr>
        <p:spPr>
          <a:xfrm>
            <a:off x="8204941" y="3534814"/>
            <a:ext cx="3594026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RISKS &amp; BENEFITS OF STOCKS</a:t>
            </a:r>
            <a:endParaRPr lang="en-US" sz="4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0609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2D233F-C7D7-46E6-9DC3-7290DF6239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A4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07E60B-5E8E-4278-94E9-39577747CED3}"/>
              </a:ext>
            </a:extLst>
          </p:cNvPr>
          <p:cNvSpPr txBox="1"/>
          <p:nvPr/>
        </p:nvSpPr>
        <p:spPr>
          <a:xfrm>
            <a:off x="-13444031" y="2400431"/>
            <a:ext cx="9554817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b="1" dirty="0">
                <a:solidFill>
                  <a:srgbClr val="FF0066"/>
                </a:solidFill>
                <a:latin typeface="Arial Black" panose="020B0A04020102020204" pitchFamily="34" charset="0"/>
              </a:rPr>
              <a:t>SUBJECT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AD154BD-51FE-43E1-BF84-E0F4DDC01BE5}"/>
              </a:ext>
            </a:extLst>
          </p:cNvPr>
          <p:cNvSpPr/>
          <p:nvPr/>
        </p:nvSpPr>
        <p:spPr>
          <a:xfrm>
            <a:off x="563880" y="431820"/>
            <a:ext cx="11064240" cy="5943600"/>
          </a:xfrm>
          <a:prstGeom prst="roundRect">
            <a:avLst/>
          </a:prstGeom>
          <a:solidFill>
            <a:srgbClr val="7105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89986A9-0E54-46DB-9514-2C0E2FA55DE1}"/>
              </a:ext>
            </a:extLst>
          </p:cNvPr>
          <p:cNvSpPr/>
          <p:nvPr/>
        </p:nvSpPr>
        <p:spPr>
          <a:xfrm>
            <a:off x="2936748" y="-3063626"/>
            <a:ext cx="6318504" cy="3383280"/>
          </a:xfrm>
          <a:prstGeom prst="roundRect">
            <a:avLst/>
          </a:prstGeom>
          <a:solidFill>
            <a:srgbClr val="B10B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099E328-5535-47C4-B1C6-65BF7E7AFEFA}"/>
              </a:ext>
            </a:extLst>
          </p:cNvPr>
          <p:cNvSpPr/>
          <p:nvPr/>
        </p:nvSpPr>
        <p:spPr>
          <a:xfrm>
            <a:off x="11808079" y="-51825"/>
            <a:ext cx="6318504" cy="3383280"/>
          </a:xfrm>
          <a:prstGeom prst="roundRect">
            <a:avLst/>
          </a:prstGeom>
          <a:solidFill>
            <a:srgbClr val="CB1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DF2AC55-5EA9-4AF3-93D3-A9F01D64DC53}"/>
              </a:ext>
            </a:extLst>
          </p:cNvPr>
          <p:cNvSpPr/>
          <p:nvPr/>
        </p:nvSpPr>
        <p:spPr>
          <a:xfrm>
            <a:off x="11808079" y="3429000"/>
            <a:ext cx="6318504" cy="3383280"/>
          </a:xfrm>
          <a:prstGeom prst="roundRect">
            <a:avLst/>
          </a:prstGeom>
          <a:solidFill>
            <a:srgbClr val="B965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B7AE608-6BB2-4B84-87A3-740818548238}"/>
              </a:ext>
            </a:extLst>
          </p:cNvPr>
          <p:cNvSpPr/>
          <p:nvPr/>
        </p:nvSpPr>
        <p:spPr>
          <a:xfrm>
            <a:off x="3160341" y="6510332"/>
            <a:ext cx="6318504" cy="3383280"/>
          </a:xfrm>
          <a:prstGeom prst="roundRect">
            <a:avLst/>
          </a:prstGeom>
          <a:solidFill>
            <a:srgbClr val="DB45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3399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B9C95F2-DC25-4F7D-B3D6-45B217380EAC}"/>
              </a:ext>
            </a:extLst>
          </p:cNvPr>
          <p:cNvSpPr/>
          <p:nvPr/>
        </p:nvSpPr>
        <p:spPr>
          <a:xfrm>
            <a:off x="-5934583" y="3331455"/>
            <a:ext cx="6319593" cy="3385173"/>
          </a:xfrm>
          <a:prstGeom prst="roundRect">
            <a:avLst/>
          </a:prstGeom>
          <a:solidFill>
            <a:srgbClr val="FF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6123D4-FAED-4E03-8488-590087FCC9E1}"/>
              </a:ext>
            </a:extLst>
          </p:cNvPr>
          <p:cNvSpPr txBox="1"/>
          <p:nvPr/>
        </p:nvSpPr>
        <p:spPr>
          <a:xfrm>
            <a:off x="948890" y="969978"/>
            <a:ext cx="737696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A </a:t>
            </a:r>
            <a:r>
              <a:rPr lang="en-US" sz="3600" b="1" dirty="0">
                <a:solidFill>
                  <a:schemeClr val="bg1"/>
                </a:solidFill>
              </a:rPr>
              <a:t>stock</a:t>
            </a:r>
            <a:r>
              <a:rPr lang="en-US" sz="3600" dirty="0">
                <a:solidFill>
                  <a:schemeClr val="bg1"/>
                </a:solidFill>
              </a:rPr>
              <a:t> represents </a:t>
            </a:r>
            <a:r>
              <a:rPr lang="en-US" sz="3600" b="1" dirty="0">
                <a:solidFill>
                  <a:schemeClr val="bg1"/>
                </a:solidFill>
              </a:rPr>
              <a:t>ownership in a company</a:t>
            </a:r>
            <a:r>
              <a:rPr lang="en-US" sz="3600" dirty="0">
                <a:solidFill>
                  <a:schemeClr val="bg1"/>
                </a:solidFill>
              </a:rPr>
              <a:t>.</a:t>
            </a:r>
          </a:p>
          <a:p>
            <a:r>
              <a:rPr lang="en-US" sz="3600" dirty="0">
                <a:solidFill>
                  <a:schemeClr val="bg1"/>
                </a:solidFill>
              </a:rPr>
              <a:t>When you buy a stock, you own a small part of that company.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If the company grows and makes profit, your stock value may increase.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If the company performs badly, your stock value may drop.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7CC8C0-963B-498E-B0E4-27B2974AF5A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512" b="89612" l="3667" r="95250">
                        <a14:foregroundMark x1="17750" y1="17772" x2="8667" y2="38173"/>
                        <a14:foregroundMark x1="14833" y1="30538" x2="73917" y2="40175"/>
                        <a14:foregroundMark x1="73917" y1="40175" x2="85667" y2="47810"/>
                        <a14:foregroundMark x1="85667" y1="47810" x2="86167" y2="49562"/>
                        <a14:foregroundMark x1="16917" y1="52566" x2="93667" y2="64080"/>
                        <a14:foregroundMark x1="16083" y1="42804" x2="95333" y2="74343"/>
                        <a14:foregroundMark x1="3667" y1="28786" x2="4917" y2="3179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915890" y="180932"/>
            <a:ext cx="5802209" cy="56571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EEC901-C331-450F-9556-E3E7D4846577}"/>
              </a:ext>
            </a:extLst>
          </p:cNvPr>
          <p:cNvSpPr txBox="1"/>
          <p:nvPr/>
        </p:nvSpPr>
        <p:spPr>
          <a:xfrm>
            <a:off x="14403451" y="6567306"/>
            <a:ext cx="76793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4" tooltip="https://www.picpedia.org/highway-signs/s/stocks-and-shares.html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5" tooltip="https://creativecommons.org/licenses/by-sa/3.0/"/>
              </a:rPr>
              <a:t>CC BY-SA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5714953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2D233F-C7D7-46E6-9DC3-7290DF6239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A4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07E60B-5E8E-4278-94E9-39577747CED3}"/>
              </a:ext>
            </a:extLst>
          </p:cNvPr>
          <p:cNvSpPr txBox="1"/>
          <p:nvPr/>
        </p:nvSpPr>
        <p:spPr>
          <a:xfrm>
            <a:off x="-13444031" y="2400431"/>
            <a:ext cx="9554817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b="1" dirty="0">
                <a:solidFill>
                  <a:srgbClr val="FF0066"/>
                </a:solidFill>
                <a:latin typeface="Arial Black" panose="020B0A04020102020204" pitchFamily="34" charset="0"/>
              </a:rPr>
              <a:t>SUBJECT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AD154BD-51FE-43E1-BF84-E0F4DDC01BE5}"/>
              </a:ext>
            </a:extLst>
          </p:cNvPr>
          <p:cNvSpPr/>
          <p:nvPr/>
        </p:nvSpPr>
        <p:spPr>
          <a:xfrm>
            <a:off x="-6126543" y="-193197"/>
            <a:ext cx="6318504" cy="3383280"/>
          </a:xfrm>
          <a:prstGeom prst="roundRect">
            <a:avLst/>
          </a:prstGeom>
          <a:solidFill>
            <a:srgbClr val="7105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89986A9-0E54-46DB-9514-2C0E2FA55DE1}"/>
              </a:ext>
            </a:extLst>
          </p:cNvPr>
          <p:cNvSpPr/>
          <p:nvPr/>
        </p:nvSpPr>
        <p:spPr>
          <a:xfrm>
            <a:off x="383921" y="457200"/>
            <a:ext cx="11164824" cy="5943600"/>
          </a:xfrm>
          <a:prstGeom prst="roundRect">
            <a:avLst/>
          </a:prstGeom>
          <a:solidFill>
            <a:srgbClr val="B10B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099E328-5535-47C4-B1C6-65BF7E7AFEFA}"/>
              </a:ext>
            </a:extLst>
          </p:cNvPr>
          <p:cNvSpPr/>
          <p:nvPr/>
        </p:nvSpPr>
        <p:spPr>
          <a:xfrm>
            <a:off x="11740705" y="-193197"/>
            <a:ext cx="6318504" cy="3383280"/>
          </a:xfrm>
          <a:prstGeom prst="roundRect">
            <a:avLst/>
          </a:prstGeom>
          <a:solidFill>
            <a:srgbClr val="CB1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DF2AC55-5EA9-4AF3-93D3-A9F01D64DC53}"/>
              </a:ext>
            </a:extLst>
          </p:cNvPr>
          <p:cNvSpPr/>
          <p:nvPr/>
        </p:nvSpPr>
        <p:spPr>
          <a:xfrm>
            <a:off x="11740705" y="3292888"/>
            <a:ext cx="6318504" cy="3383280"/>
          </a:xfrm>
          <a:prstGeom prst="roundRect">
            <a:avLst/>
          </a:prstGeom>
          <a:solidFill>
            <a:srgbClr val="B965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B7AE608-6BB2-4B84-87A3-740818548238}"/>
              </a:ext>
            </a:extLst>
          </p:cNvPr>
          <p:cNvSpPr/>
          <p:nvPr/>
        </p:nvSpPr>
        <p:spPr>
          <a:xfrm>
            <a:off x="3035872" y="6526374"/>
            <a:ext cx="6318504" cy="3383280"/>
          </a:xfrm>
          <a:prstGeom prst="roundRect">
            <a:avLst/>
          </a:prstGeom>
          <a:solidFill>
            <a:srgbClr val="DB45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3399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B9C95F2-DC25-4F7D-B3D6-45B217380EAC}"/>
              </a:ext>
            </a:extLst>
          </p:cNvPr>
          <p:cNvSpPr/>
          <p:nvPr/>
        </p:nvSpPr>
        <p:spPr>
          <a:xfrm>
            <a:off x="-6127632" y="3292888"/>
            <a:ext cx="6319593" cy="3385173"/>
          </a:xfrm>
          <a:prstGeom prst="roundRect">
            <a:avLst/>
          </a:prstGeom>
          <a:solidFill>
            <a:srgbClr val="FF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22574F-4688-47B2-9407-7AFBB375EC1C}"/>
              </a:ext>
            </a:extLst>
          </p:cNvPr>
          <p:cNvSpPr txBox="1"/>
          <p:nvPr/>
        </p:nvSpPr>
        <p:spPr>
          <a:xfrm>
            <a:off x="557617" y="948690"/>
            <a:ext cx="473627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sz="4800" b="1" dirty="0">
              <a:solidFill>
                <a:schemeClr val="bg1"/>
              </a:solidFill>
            </a:endParaRPr>
          </a:p>
          <a:p>
            <a:pPr marL="457200" marR="0" indent="-457200" algn="ctr">
              <a:lnSpc>
                <a:spcPct val="150000"/>
              </a:lnSpc>
              <a:buClr>
                <a:schemeClr val="bg1"/>
              </a:buClr>
              <a:buFont typeface="Century Gothic" panose="020B0502020202020204" pitchFamily="34" charset="0"/>
              <a:buChar char="►"/>
            </a:pPr>
            <a:r>
              <a:rPr lang="en-US" sz="32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Voting Rights</a:t>
            </a:r>
            <a:r>
              <a:rPr lang="en-US" sz="320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 </a:t>
            </a:r>
          </a:p>
          <a:p>
            <a:pPr marL="457200" marR="0" indent="-457200" algn="ctr">
              <a:lnSpc>
                <a:spcPct val="150000"/>
              </a:lnSpc>
              <a:buClr>
                <a:schemeClr val="bg1"/>
              </a:buClr>
              <a:buFont typeface="Century Gothic" panose="020B0502020202020204" pitchFamily="34" charset="0"/>
              <a:buChar char="►"/>
            </a:pPr>
            <a:r>
              <a:rPr lang="en-US" sz="3200" b="1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Dividends</a:t>
            </a:r>
            <a:r>
              <a:rPr lang="en-US" sz="320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 </a:t>
            </a:r>
          </a:p>
          <a:p>
            <a:pPr marL="457200" marR="0" indent="-457200" algn="ctr">
              <a:lnSpc>
                <a:spcPct val="150000"/>
              </a:lnSpc>
              <a:buClr>
                <a:schemeClr val="bg1"/>
              </a:buClr>
              <a:buFont typeface="Century Gothic" panose="020B0502020202020204" pitchFamily="34" charset="0"/>
              <a:buChar char="►"/>
            </a:pPr>
            <a:r>
              <a:rPr lang="en-US" sz="3200" b="1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Higher Risk, Higher Potential Return</a:t>
            </a:r>
            <a:r>
              <a:rPr lang="en-US" sz="320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 </a:t>
            </a:r>
          </a:p>
          <a:p>
            <a:pPr marL="457200" marR="0" indent="-457200" algn="ctr">
              <a:lnSpc>
                <a:spcPct val="150000"/>
              </a:lnSpc>
              <a:buClr>
                <a:schemeClr val="bg1"/>
              </a:buClr>
              <a:buFont typeface="Century Gothic" panose="020B0502020202020204" pitchFamily="34" charset="0"/>
              <a:buChar char="►"/>
            </a:pPr>
            <a:r>
              <a:rPr lang="en-US" sz="3200" b="1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Last in Liquidation</a:t>
            </a:r>
            <a:r>
              <a:rPr lang="en-US" sz="320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 </a:t>
            </a:r>
          </a:p>
          <a:p>
            <a:pPr marL="0" marR="0" algn="ctr">
              <a:lnSpc>
                <a:spcPct val="150000"/>
              </a:lnSpc>
            </a:pP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05F8B3-AEF1-4518-9641-DB34B89B2CB0}"/>
              </a:ext>
            </a:extLst>
          </p:cNvPr>
          <p:cNvSpPr txBox="1"/>
          <p:nvPr/>
        </p:nvSpPr>
        <p:spPr>
          <a:xfrm>
            <a:off x="5924144" y="990391"/>
            <a:ext cx="5186312" cy="5186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/>
              <a:t> </a:t>
            </a:r>
            <a:endParaRPr lang="en-US" sz="4400" b="1" dirty="0">
              <a:solidFill>
                <a:schemeClr val="bg1"/>
              </a:solidFill>
            </a:endParaRPr>
          </a:p>
          <a:p>
            <a:pPr marL="457200" marR="0" indent="-457200" algn="ctr">
              <a:lnSpc>
                <a:spcPct val="150000"/>
              </a:lnSpc>
              <a:buClr>
                <a:schemeClr val="bg1"/>
              </a:buClr>
              <a:buFont typeface="Century Gothic" panose="020B0502020202020204" pitchFamily="34" charset="0"/>
              <a:buChar char="►"/>
            </a:pPr>
            <a:r>
              <a:rPr lang="en-US" sz="3200" b="1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No (or Limited) Voting Rights</a:t>
            </a:r>
            <a:endParaRPr lang="en-US" sz="3200" dirty="0">
              <a:solidFill>
                <a:schemeClr val="bg1"/>
              </a:solidFill>
              <a:effectLst/>
              <a:ea typeface="Times New Roman" panose="02020603050405020304" pitchFamily="18" charset="0"/>
            </a:endParaRPr>
          </a:p>
          <a:p>
            <a:pPr marL="457200" marR="0" indent="-457200" algn="ctr">
              <a:lnSpc>
                <a:spcPct val="150000"/>
              </a:lnSpc>
              <a:buClr>
                <a:schemeClr val="bg1"/>
              </a:buClr>
              <a:buFont typeface="Century Gothic" panose="020B0502020202020204" pitchFamily="34" charset="0"/>
              <a:buChar char="►"/>
            </a:pPr>
            <a:r>
              <a:rPr lang="en-US" sz="3200" b="1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Fixed Dividends</a:t>
            </a:r>
            <a:r>
              <a:rPr lang="en-US" sz="320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 </a:t>
            </a:r>
          </a:p>
          <a:p>
            <a:pPr marL="457200" marR="0" indent="-457200" algn="ctr">
              <a:lnSpc>
                <a:spcPct val="150000"/>
              </a:lnSpc>
              <a:buClr>
                <a:schemeClr val="bg1"/>
              </a:buClr>
              <a:buFont typeface="Century Gothic" panose="020B0502020202020204" pitchFamily="34" charset="0"/>
              <a:buChar char="►"/>
            </a:pPr>
            <a:r>
              <a:rPr lang="en-US" sz="3200" b="1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Lower Risk than Common Stock</a:t>
            </a:r>
            <a:endParaRPr lang="en-US" sz="3200" dirty="0">
              <a:solidFill>
                <a:schemeClr val="bg1"/>
              </a:solidFill>
              <a:effectLst/>
              <a:ea typeface="Times New Roman" panose="02020603050405020304" pitchFamily="18" charset="0"/>
            </a:endParaRPr>
          </a:p>
          <a:p>
            <a:pPr marL="457200" indent="-457200" algn="ctr">
              <a:lnSpc>
                <a:spcPct val="150000"/>
              </a:lnSpc>
              <a:buClr>
                <a:schemeClr val="bg1"/>
              </a:buClr>
              <a:buFont typeface="Century Gothic" panose="020B0502020202020204" pitchFamily="34" charset="0"/>
              <a:buChar char="►"/>
            </a:pPr>
            <a:r>
              <a:rPr lang="en-US" sz="32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Priority in Liquidation</a:t>
            </a:r>
            <a:r>
              <a:rPr lang="en-US" sz="32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CF84D7-36B9-4247-9803-429072EE0E22}"/>
              </a:ext>
            </a:extLst>
          </p:cNvPr>
          <p:cNvSpPr txBox="1"/>
          <p:nvPr/>
        </p:nvSpPr>
        <p:spPr>
          <a:xfrm>
            <a:off x="888182" y="990391"/>
            <a:ext cx="4501693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Common Stocks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96E5DA-9814-4704-B9AB-56A4AD8744A2}"/>
              </a:ext>
            </a:extLst>
          </p:cNvPr>
          <p:cNvSpPr txBox="1"/>
          <p:nvPr/>
        </p:nvSpPr>
        <p:spPr>
          <a:xfrm>
            <a:off x="6395325" y="990391"/>
            <a:ext cx="47945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Preferred Stocks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1021127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2D233F-C7D7-46E6-9DC3-7290DF6239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A4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07E60B-5E8E-4278-94E9-39577747CED3}"/>
              </a:ext>
            </a:extLst>
          </p:cNvPr>
          <p:cNvSpPr txBox="1"/>
          <p:nvPr/>
        </p:nvSpPr>
        <p:spPr>
          <a:xfrm>
            <a:off x="-13444031" y="2400431"/>
            <a:ext cx="9554817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b="1" dirty="0">
                <a:solidFill>
                  <a:srgbClr val="FF0066"/>
                </a:solidFill>
                <a:latin typeface="Arial Black" panose="020B0A04020102020204" pitchFamily="34" charset="0"/>
              </a:rPr>
              <a:t>SUBJECT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AD154BD-51FE-43E1-BF84-E0F4DDC01BE5}"/>
              </a:ext>
            </a:extLst>
          </p:cNvPr>
          <p:cNvSpPr/>
          <p:nvPr/>
        </p:nvSpPr>
        <p:spPr>
          <a:xfrm>
            <a:off x="-5934583" y="-203982"/>
            <a:ext cx="6318504" cy="3383280"/>
          </a:xfrm>
          <a:prstGeom prst="roundRect">
            <a:avLst/>
          </a:prstGeom>
          <a:solidFill>
            <a:srgbClr val="7105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89986A9-0E54-46DB-9514-2C0E2FA55DE1}"/>
              </a:ext>
            </a:extLst>
          </p:cNvPr>
          <p:cNvSpPr/>
          <p:nvPr/>
        </p:nvSpPr>
        <p:spPr>
          <a:xfrm>
            <a:off x="2936748" y="-3201905"/>
            <a:ext cx="6318504" cy="3383280"/>
          </a:xfrm>
          <a:prstGeom prst="roundRect">
            <a:avLst/>
          </a:prstGeom>
          <a:solidFill>
            <a:srgbClr val="B10B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099E328-5535-47C4-B1C6-65BF7E7AFEFA}"/>
              </a:ext>
            </a:extLst>
          </p:cNvPr>
          <p:cNvSpPr/>
          <p:nvPr/>
        </p:nvSpPr>
        <p:spPr>
          <a:xfrm>
            <a:off x="513588" y="362750"/>
            <a:ext cx="11164824" cy="5943600"/>
          </a:xfrm>
          <a:prstGeom prst="roundRect">
            <a:avLst/>
          </a:prstGeom>
          <a:solidFill>
            <a:srgbClr val="CB1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DF2AC55-5EA9-4AF3-93D3-A9F01D64DC53}"/>
              </a:ext>
            </a:extLst>
          </p:cNvPr>
          <p:cNvSpPr/>
          <p:nvPr/>
        </p:nvSpPr>
        <p:spPr>
          <a:xfrm>
            <a:off x="11808079" y="3333348"/>
            <a:ext cx="6318504" cy="3383280"/>
          </a:xfrm>
          <a:prstGeom prst="roundRect">
            <a:avLst/>
          </a:prstGeom>
          <a:solidFill>
            <a:srgbClr val="B965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B7AE608-6BB2-4B84-87A3-740818548238}"/>
              </a:ext>
            </a:extLst>
          </p:cNvPr>
          <p:cNvSpPr/>
          <p:nvPr/>
        </p:nvSpPr>
        <p:spPr>
          <a:xfrm>
            <a:off x="2936748" y="6495250"/>
            <a:ext cx="6318504" cy="3383280"/>
          </a:xfrm>
          <a:prstGeom prst="roundRect">
            <a:avLst/>
          </a:prstGeom>
          <a:solidFill>
            <a:srgbClr val="DB45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3399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B9C95F2-DC25-4F7D-B3D6-45B217380EAC}"/>
              </a:ext>
            </a:extLst>
          </p:cNvPr>
          <p:cNvSpPr/>
          <p:nvPr/>
        </p:nvSpPr>
        <p:spPr>
          <a:xfrm>
            <a:off x="-5934583" y="3331455"/>
            <a:ext cx="6319593" cy="3385173"/>
          </a:xfrm>
          <a:prstGeom prst="roundRect">
            <a:avLst/>
          </a:prstGeom>
          <a:solidFill>
            <a:srgbClr val="FF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63500C-498C-4C1B-A041-A446BC526AB2}"/>
              </a:ext>
            </a:extLst>
          </p:cNvPr>
          <p:cNvSpPr txBox="1"/>
          <p:nvPr/>
        </p:nvSpPr>
        <p:spPr>
          <a:xfrm>
            <a:off x="1053219" y="1536620"/>
            <a:ext cx="648063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600" dirty="0">
                <a:solidFill>
                  <a:schemeClr val="bg1"/>
                </a:solidFill>
              </a:rPr>
              <a:t>A </a:t>
            </a:r>
            <a:r>
              <a:rPr lang="en-US" sz="3600" b="1" dirty="0">
                <a:solidFill>
                  <a:schemeClr val="bg1"/>
                </a:solidFill>
              </a:rPr>
              <a:t>Stock-Broker</a:t>
            </a:r>
            <a:r>
              <a:rPr lang="en-US" sz="3600" dirty="0">
                <a:solidFill>
                  <a:schemeClr val="bg1"/>
                </a:solidFill>
              </a:rPr>
              <a:t> is a company or app that allows you to buy and sell stocks.</a:t>
            </a:r>
          </a:p>
          <a:p>
            <a:pPr algn="just"/>
            <a:r>
              <a:rPr lang="en-US" sz="3600" dirty="0">
                <a:solidFill>
                  <a:schemeClr val="bg1"/>
                </a:solidFill>
              </a:rPr>
              <a:t>You cannot buy shares directly from the stock exchange — you must use a broker.</a:t>
            </a:r>
          </a:p>
          <a:p>
            <a:endParaRPr lang="en-US" dirty="0"/>
          </a:p>
        </p:txBody>
      </p:sp>
      <p:pic>
        <p:nvPicPr>
          <p:cNvPr id="9" name="Graphic 8" descr="City with solid fill">
            <a:extLst>
              <a:ext uri="{FF2B5EF4-FFF2-40B4-BE49-F238E27FC236}">
                <a16:creationId xmlns:a16="http://schemas.microsoft.com/office/drawing/2014/main" id="{923811A3-A4FB-4242-8699-EB47F064C3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47443" y="1599490"/>
            <a:ext cx="3333457" cy="3333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087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2D233F-C7D7-46E6-9DC3-7290DF6239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A4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07E60B-5E8E-4278-94E9-39577747CED3}"/>
              </a:ext>
            </a:extLst>
          </p:cNvPr>
          <p:cNvSpPr txBox="1"/>
          <p:nvPr/>
        </p:nvSpPr>
        <p:spPr>
          <a:xfrm>
            <a:off x="-13444031" y="2400431"/>
            <a:ext cx="9554817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b="1" dirty="0">
                <a:solidFill>
                  <a:srgbClr val="FF0066"/>
                </a:solidFill>
                <a:latin typeface="Arial Black" panose="020B0A04020102020204" pitchFamily="34" charset="0"/>
              </a:rPr>
              <a:t>SUBJECT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AD154BD-51FE-43E1-BF84-E0F4DDC01BE5}"/>
              </a:ext>
            </a:extLst>
          </p:cNvPr>
          <p:cNvSpPr/>
          <p:nvPr/>
        </p:nvSpPr>
        <p:spPr>
          <a:xfrm>
            <a:off x="-6083427" y="-203982"/>
            <a:ext cx="6318504" cy="3383280"/>
          </a:xfrm>
          <a:prstGeom prst="roundRect">
            <a:avLst/>
          </a:prstGeom>
          <a:solidFill>
            <a:srgbClr val="7105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89986A9-0E54-46DB-9514-2C0E2FA55DE1}"/>
              </a:ext>
            </a:extLst>
          </p:cNvPr>
          <p:cNvSpPr/>
          <p:nvPr/>
        </p:nvSpPr>
        <p:spPr>
          <a:xfrm>
            <a:off x="2936748" y="-3035612"/>
            <a:ext cx="6318504" cy="3383280"/>
          </a:xfrm>
          <a:prstGeom prst="roundRect">
            <a:avLst/>
          </a:prstGeom>
          <a:solidFill>
            <a:srgbClr val="B10B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099E328-5535-47C4-B1C6-65BF7E7AFEFA}"/>
              </a:ext>
            </a:extLst>
          </p:cNvPr>
          <p:cNvSpPr/>
          <p:nvPr/>
        </p:nvSpPr>
        <p:spPr>
          <a:xfrm>
            <a:off x="11808079" y="-139036"/>
            <a:ext cx="6318504" cy="3383280"/>
          </a:xfrm>
          <a:prstGeom prst="roundRect">
            <a:avLst/>
          </a:prstGeom>
          <a:solidFill>
            <a:srgbClr val="CB1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DF2AC55-5EA9-4AF3-93D3-A9F01D64DC53}"/>
              </a:ext>
            </a:extLst>
          </p:cNvPr>
          <p:cNvSpPr/>
          <p:nvPr/>
        </p:nvSpPr>
        <p:spPr>
          <a:xfrm>
            <a:off x="11808079" y="3415097"/>
            <a:ext cx="6318504" cy="3383280"/>
          </a:xfrm>
          <a:prstGeom prst="roundRect">
            <a:avLst/>
          </a:prstGeom>
          <a:solidFill>
            <a:srgbClr val="B965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B7AE608-6BB2-4B84-87A3-740818548238}"/>
              </a:ext>
            </a:extLst>
          </p:cNvPr>
          <p:cNvSpPr/>
          <p:nvPr/>
        </p:nvSpPr>
        <p:spPr>
          <a:xfrm>
            <a:off x="2936748" y="6510332"/>
            <a:ext cx="6318504" cy="3383280"/>
          </a:xfrm>
          <a:prstGeom prst="roundRect">
            <a:avLst/>
          </a:prstGeom>
          <a:solidFill>
            <a:srgbClr val="DB45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3399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B9C95F2-DC25-4F7D-B3D6-45B217380EAC}"/>
              </a:ext>
            </a:extLst>
          </p:cNvPr>
          <p:cNvSpPr/>
          <p:nvPr/>
        </p:nvSpPr>
        <p:spPr>
          <a:xfrm>
            <a:off x="439166" y="486704"/>
            <a:ext cx="11164824" cy="5943600"/>
          </a:xfrm>
          <a:prstGeom prst="roundRect">
            <a:avLst/>
          </a:prstGeom>
          <a:solidFill>
            <a:srgbClr val="FF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443E91-AEA7-441C-9237-0B235C8CCD9B}"/>
              </a:ext>
            </a:extLst>
          </p:cNvPr>
          <p:cNvSpPr txBox="1"/>
          <p:nvPr/>
        </p:nvSpPr>
        <p:spPr>
          <a:xfrm>
            <a:off x="1237384" y="1202439"/>
            <a:ext cx="862608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600" dirty="0">
                <a:solidFill>
                  <a:schemeClr val="bg1"/>
                </a:solidFill>
              </a:rPr>
              <a:t>A </a:t>
            </a:r>
            <a:r>
              <a:rPr lang="en-US" sz="3600" b="1" dirty="0">
                <a:solidFill>
                  <a:schemeClr val="bg1"/>
                </a:solidFill>
              </a:rPr>
              <a:t>Dividend</a:t>
            </a:r>
            <a:r>
              <a:rPr lang="en-US" sz="3600" dirty="0">
                <a:solidFill>
                  <a:schemeClr val="bg1"/>
                </a:solidFill>
              </a:rPr>
              <a:t> is money paid to shareholders from company profits.</a:t>
            </a:r>
          </a:p>
          <a:p>
            <a:pPr algn="just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Dividends can be paid:</a:t>
            </a:r>
          </a:p>
          <a:p>
            <a:pPr marL="571500" indent="-571500" algn="just">
              <a:lnSpc>
                <a:spcPct val="150000"/>
              </a:lnSpc>
              <a:buClr>
                <a:schemeClr val="bg1"/>
              </a:buClr>
              <a:buFont typeface="Century Gothic" panose="020B0502020202020204" pitchFamily="34" charset="0"/>
              <a:buChar char="►"/>
            </a:pPr>
            <a:r>
              <a:rPr lang="en-US" sz="3600" dirty="0">
                <a:solidFill>
                  <a:schemeClr val="bg1"/>
                </a:solidFill>
              </a:rPr>
              <a:t>Quarterly</a:t>
            </a:r>
          </a:p>
          <a:p>
            <a:pPr marL="571500" indent="-571500" algn="just">
              <a:lnSpc>
                <a:spcPct val="150000"/>
              </a:lnSpc>
              <a:buClr>
                <a:schemeClr val="bg1"/>
              </a:buClr>
              <a:buFont typeface="Century Gothic" panose="020B0502020202020204" pitchFamily="34" charset="0"/>
              <a:buChar char="►"/>
            </a:pPr>
            <a:r>
              <a:rPr lang="en-US" sz="3600" dirty="0">
                <a:solidFill>
                  <a:schemeClr val="bg1"/>
                </a:solidFill>
              </a:rPr>
              <a:t>Annually</a:t>
            </a:r>
          </a:p>
          <a:p>
            <a:pPr marL="571500" indent="-571500" algn="just">
              <a:lnSpc>
                <a:spcPct val="150000"/>
              </a:lnSpc>
              <a:buClr>
                <a:schemeClr val="bg1"/>
              </a:buClr>
              <a:buFont typeface="Century Gothic" panose="020B0502020202020204" pitchFamily="34" charset="0"/>
              <a:buChar char="►"/>
            </a:pPr>
            <a:r>
              <a:rPr lang="en-US" sz="3600" dirty="0">
                <a:solidFill>
                  <a:schemeClr val="bg1"/>
                </a:solidFill>
              </a:rPr>
              <a:t>Semi-annually</a:t>
            </a:r>
          </a:p>
          <a:p>
            <a:endParaRPr lang="en-US" dirty="0"/>
          </a:p>
        </p:txBody>
      </p:sp>
      <p:sp>
        <p:nvSpPr>
          <p:cNvPr id="11" name="Graphic 8" descr="Coins with solid fill">
            <a:extLst>
              <a:ext uri="{FF2B5EF4-FFF2-40B4-BE49-F238E27FC236}">
                <a16:creationId xmlns:a16="http://schemas.microsoft.com/office/drawing/2014/main" id="{69F56A4D-49AF-44EB-A196-D0E50060A4F5}"/>
              </a:ext>
            </a:extLst>
          </p:cNvPr>
          <p:cNvSpPr/>
          <p:nvPr/>
        </p:nvSpPr>
        <p:spPr>
          <a:xfrm>
            <a:off x="7473301" y="2544295"/>
            <a:ext cx="3493283" cy="2856497"/>
          </a:xfrm>
          <a:custGeom>
            <a:avLst/>
            <a:gdLst>
              <a:gd name="connsiteX0" fmla="*/ 2655862 w 2856679"/>
              <a:gd name="connsiteY0" fmla="*/ 2040355 h 2448426"/>
              <a:gd name="connsiteX1" fmla="*/ 2519839 w 2856679"/>
              <a:gd name="connsiteY1" fmla="*/ 2155975 h 2448426"/>
              <a:gd name="connsiteX2" fmla="*/ 2519839 w 2856679"/>
              <a:gd name="connsiteY2" fmla="*/ 2033554 h 2448426"/>
              <a:gd name="connsiteX3" fmla="*/ 2655862 w 2856679"/>
              <a:gd name="connsiteY3" fmla="*/ 1979144 h 2448426"/>
              <a:gd name="connsiteX4" fmla="*/ 2655862 w 2856679"/>
              <a:gd name="connsiteY4" fmla="*/ 2040355 h 2448426"/>
              <a:gd name="connsiteX5" fmla="*/ 2383815 w 2856679"/>
              <a:gd name="connsiteY5" fmla="*/ 1815916 h 2448426"/>
              <a:gd name="connsiteX6" fmla="*/ 2383815 w 2856679"/>
              <a:gd name="connsiteY6" fmla="*/ 1693495 h 2448426"/>
              <a:gd name="connsiteX7" fmla="*/ 2519839 w 2856679"/>
              <a:gd name="connsiteY7" fmla="*/ 1639085 h 2448426"/>
              <a:gd name="connsiteX8" fmla="*/ 2519839 w 2856679"/>
              <a:gd name="connsiteY8" fmla="*/ 1700296 h 2448426"/>
              <a:gd name="connsiteX9" fmla="*/ 2383815 w 2856679"/>
              <a:gd name="connsiteY9" fmla="*/ 1815916 h 2448426"/>
              <a:gd name="connsiteX10" fmla="*/ 2383815 w 2856679"/>
              <a:gd name="connsiteY10" fmla="*/ 2196782 h 2448426"/>
              <a:gd name="connsiteX11" fmla="*/ 2247791 w 2856679"/>
              <a:gd name="connsiteY11" fmla="*/ 2220587 h 2448426"/>
              <a:gd name="connsiteX12" fmla="*/ 2247791 w 2856679"/>
              <a:gd name="connsiteY12" fmla="*/ 2087963 h 2448426"/>
              <a:gd name="connsiteX13" fmla="*/ 2383815 w 2856679"/>
              <a:gd name="connsiteY13" fmla="*/ 2067560 h 2448426"/>
              <a:gd name="connsiteX14" fmla="*/ 2383815 w 2856679"/>
              <a:gd name="connsiteY14" fmla="*/ 2196782 h 2448426"/>
              <a:gd name="connsiteX15" fmla="*/ 2111768 w 2856679"/>
              <a:gd name="connsiteY15" fmla="*/ 1747904 h 2448426"/>
              <a:gd name="connsiteX16" fmla="*/ 2247791 w 2856679"/>
              <a:gd name="connsiteY16" fmla="*/ 1727501 h 2448426"/>
              <a:gd name="connsiteX17" fmla="*/ 2247791 w 2856679"/>
              <a:gd name="connsiteY17" fmla="*/ 1856723 h 2448426"/>
              <a:gd name="connsiteX18" fmla="*/ 2111768 w 2856679"/>
              <a:gd name="connsiteY18" fmla="*/ 1880527 h 2448426"/>
              <a:gd name="connsiteX19" fmla="*/ 2111768 w 2856679"/>
              <a:gd name="connsiteY19" fmla="*/ 1747904 h 2448426"/>
              <a:gd name="connsiteX20" fmla="*/ 2111768 w 2856679"/>
              <a:gd name="connsiteY20" fmla="*/ 2237590 h 2448426"/>
              <a:gd name="connsiteX21" fmla="*/ 1975744 w 2856679"/>
              <a:gd name="connsiteY21" fmla="*/ 2244391 h 2448426"/>
              <a:gd name="connsiteX22" fmla="*/ 1975744 w 2856679"/>
              <a:gd name="connsiteY22" fmla="*/ 2108367 h 2448426"/>
              <a:gd name="connsiteX23" fmla="*/ 2111768 w 2856679"/>
              <a:gd name="connsiteY23" fmla="*/ 2101566 h 2448426"/>
              <a:gd name="connsiteX24" fmla="*/ 2111768 w 2856679"/>
              <a:gd name="connsiteY24" fmla="*/ 2237590 h 2448426"/>
              <a:gd name="connsiteX25" fmla="*/ 1839720 w 2856679"/>
              <a:gd name="connsiteY25" fmla="*/ 1904331 h 2448426"/>
              <a:gd name="connsiteX26" fmla="*/ 1839720 w 2856679"/>
              <a:gd name="connsiteY26" fmla="*/ 1768308 h 2448426"/>
              <a:gd name="connsiteX27" fmla="*/ 1975744 w 2856679"/>
              <a:gd name="connsiteY27" fmla="*/ 1761507 h 2448426"/>
              <a:gd name="connsiteX28" fmla="*/ 1975744 w 2856679"/>
              <a:gd name="connsiteY28" fmla="*/ 1897530 h 2448426"/>
              <a:gd name="connsiteX29" fmla="*/ 1839720 w 2856679"/>
              <a:gd name="connsiteY29" fmla="*/ 1904331 h 2448426"/>
              <a:gd name="connsiteX30" fmla="*/ 1839720 w 2856679"/>
              <a:gd name="connsiteY30" fmla="*/ 2244391 h 2448426"/>
              <a:gd name="connsiteX31" fmla="*/ 1703696 w 2856679"/>
              <a:gd name="connsiteY31" fmla="*/ 2237590 h 2448426"/>
              <a:gd name="connsiteX32" fmla="*/ 1703696 w 2856679"/>
              <a:gd name="connsiteY32" fmla="*/ 2108367 h 2448426"/>
              <a:gd name="connsiteX33" fmla="*/ 1771708 w 2856679"/>
              <a:gd name="connsiteY33" fmla="*/ 2108367 h 2448426"/>
              <a:gd name="connsiteX34" fmla="*/ 1839720 w 2856679"/>
              <a:gd name="connsiteY34" fmla="*/ 2108367 h 2448426"/>
              <a:gd name="connsiteX35" fmla="*/ 1839720 w 2856679"/>
              <a:gd name="connsiteY35" fmla="*/ 2244391 h 2448426"/>
              <a:gd name="connsiteX36" fmla="*/ 1567673 w 2856679"/>
              <a:gd name="connsiteY36" fmla="*/ 1761507 h 2448426"/>
              <a:gd name="connsiteX37" fmla="*/ 1703696 w 2856679"/>
              <a:gd name="connsiteY37" fmla="*/ 1768308 h 2448426"/>
              <a:gd name="connsiteX38" fmla="*/ 1703696 w 2856679"/>
              <a:gd name="connsiteY38" fmla="*/ 1904331 h 2448426"/>
              <a:gd name="connsiteX39" fmla="*/ 1567673 w 2856679"/>
              <a:gd name="connsiteY39" fmla="*/ 1897530 h 2448426"/>
              <a:gd name="connsiteX40" fmla="*/ 1567673 w 2856679"/>
              <a:gd name="connsiteY40" fmla="*/ 1761507 h 2448426"/>
              <a:gd name="connsiteX41" fmla="*/ 1567673 w 2856679"/>
              <a:gd name="connsiteY41" fmla="*/ 2220587 h 2448426"/>
              <a:gd name="connsiteX42" fmla="*/ 1431649 w 2856679"/>
              <a:gd name="connsiteY42" fmla="*/ 2196782 h 2448426"/>
              <a:gd name="connsiteX43" fmla="*/ 1431649 w 2856679"/>
              <a:gd name="connsiteY43" fmla="*/ 2087963 h 2448426"/>
              <a:gd name="connsiteX44" fmla="*/ 1567673 w 2856679"/>
              <a:gd name="connsiteY44" fmla="*/ 2101566 h 2448426"/>
              <a:gd name="connsiteX45" fmla="*/ 1567673 w 2856679"/>
              <a:gd name="connsiteY45" fmla="*/ 2220587 h 2448426"/>
              <a:gd name="connsiteX46" fmla="*/ 1295625 w 2856679"/>
              <a:gd name="connsiteY46" fmla="*/ 1856723 h 2448426"/>
              <a:gd name="connsiteX47" fmla="*/ 1295625 w 2856679"/>
              <a:gd name="connsiteY47" fmla="*/ 1724100 h 2448426"/>
              <a:gd name="connsiteX48" fmla="*/ 1431649 w 2856679"/>
              <a:gd name="connsiteY48" fmla="*/ 1744504 h 2448426"/>
              <a:gd name="connsiteX49" fmla="*/ 1431649 w 2856679"/>
              <a:gd name="connsiteY49" fmla="*/ 1880527 h 2448426"/>
              <a:gd name="connsiteX50" fmla="*/ 1295625 w 2856679"/>
              <a:gd name="connsiteY50" fmla="*/ 1856723 h 2448426"/>
              <a:gd name="connsiteX51" fmla="*/ 1295625 w 2856679"/>
              <a:gd name="connsiteY51" fmla="*/ 2155975 h 2448426"/>
              <a:gd name="connsiteX52" fmla="*/ 1159602 w 2856679"/>
              <a:gd name="connsiteY52" fmla="*/ 2040355 h 2448426"/>
              <a:gd name="connsiteX53" fmla="*/ 1159602 w 2856679"/>
              <a:gd name="connsiteY53" fmla="*/ 2033554 h 2448426"/>
              <a:gd name="connsiteX54" fmla="*/ 1163002 w 2856679"/>
              <a:gd name="connsiteY54" fmla="*/ 2033554 h 2448426"/>
              <a:gd name="connsiteX55" fmla="*/ 1190207 w 2856679"/>
              <a:gd name="connsiteY55" fmla="*/ 2040355 h 2448426"/>
              <a:gd name="connsiteX56" fmla="*/ 1295625 w 2856679"/>
              <a:gd name="connsiteY56" fmla="*/ 2064159 h 2448426"/>
              <a:gd name="connsiteX57" fmla="*/ 1295625 w 2856679"/>
              <a:gd name="connsiteY57" fmla="*/ 2155975 h 2448426"/>
              <a:gd name="connsiteX58" fmla="*/ 751531 w 2856679"/>
              <a:gd name="connsiteY58" fmla="*/ 1693495 h 2448426"/>
              <a:gd name="connsiteX59" fmla="*/ 819543 w 2856679"/>
              <a:gd name="connsiteY59" fmla="*/ 1696895 h 2448426"/>
              <a:gd name="connsiteX60" fmla="*/ 819543 w 2856679"/>
              <a:gd name="connsiteY60" fmla="*/ 1700296 h 2448426"/>
              <a:gd name="connsiteX61" fmla="*/ 853549 w 2856679"/>
              <a:gd name="connsiteY61" fmla="*/ 1832919 h 2448426"/>
              <a:gd name="connsiteX62" fmla="*/ 751531 w 2856679"/>
              <a:gd name="connsiteY62" fmla="*/ 1826118 h 2448426"/>
              <a:gd name="connsiteX63" fmla="*/ 751531 w 2856679"/>
              <a:gd name="connsiteY63" fmla="*/ 1693495 h 2448426"/>
              <a:gd name="connsiteX64" fmla="*/ 615507 w 2856679"/>
              <a:gd name="connsiteY64" fmla="*/ 1285424 h 2448426"/>
              <a:gd name="connsiteX65" fmla="*/ 751531 w 2856679"/>
              <a:gd name="connsiteY65" fmla="*/ 1305827 h 2448426"/>
              <a:gd name="connsiteX66" fmla="*/ 751531 w 2856679"/>
              <a:gd name="connsiteY66" fmla="*/ 1441851 h 2448426"/>
              <a:gd name="connsiteX67" fmla="*/ 615507 w 2856679"/>
              <a:gd name="connsiteY67" fmla="*/ 1418047 h 2448426"/>
              <a:gd name="connsiteX68" fmla="*/ 615507 w 2856679"/>
              <a:gd name="connsiteY68" fmla="*/ 1285424 h 2448426"/>
              <a:gd name="connsiteX69" fmla="*/ 615507 w 2856679"/>
              <a:gd name="connsiteY69" fmla="*/ 1812516 h 2448426"/>
              <a:gd name="connsiteX70" fmla="*/ 479483 w 2856679"/>
              <a:gd name="connsiteY70" fmla="*/ 1788711 h 2448426"/>
              <a:gd name="connsiteX71" fmla="*/ 479483 w 2856679"/>
              <a:gd name="connsiteY71" fmla="*/ 1656088 h 2448426"/>
              <a:gd name="connsiteX72" fmla="*/ 615507 w 2856679"/>
              <a:gd name="connsiteY72" fmla="*/ 1676492 h 2448426"/>
              <a:gd name="connsiteX73" fmla="*/ 615507 w 2856679"/>
              <a:gd name="connsiteY73" fmla="*/ 1812516 h 2448426"/>
              <a:gd name="connsiteX74" fmla="*/ 343460 w 2856679"/>
              <a:gd name="connsiteY74" fmla="*/ 1258219 h 2448426"/>
              <a:gd name="connsiteX75" fmla="*/ 343460 w 2856679"/>
              <a:gd name="connsiteY75" fmla="*/ 1197008 h 2448426"/>
              <a:gd name="connsiteX76" fmla="*/ 479483 w 2856679"/>
              <a:gd name="connsiteY76" fmla="*/ 1248017 h 2448426"/>
              <a:gd name="connsiteX77" fmla="*/ 479483 w 2856679"/>
              <a:gd name="connsiteY77" fmla="*/ 1373839 h 2448426"/>
              <a:gd name="connsiteX78" fmla="*/ 343460 w 2856679"/>
              <a:gd name="connsiteY78" fmla="*/ 1258219 h 2448426"/>
              <a:gd name="connsiteX79" fmla="*/ 343460 w 2856679"/>
              <a:gd name="connsiteY79" fmla="*/ 1747904 h 2448426"/>
              <a:gd name="connsiteX80" fmla="*/ 207436 w 2856679"/>
              <a:gd name="connsiteY80" fmla="*/ 1632284 h 2448426"/>
              <a:gd name="connsiteX81" fmla="*/ 207436 w 2856679"/>
              <a:gd name="connsiteY81" fmla="*/ 1571073 h 2448426"/>
              <a:gd name="connsiteX82" fmla="*/ 343460 w 2856679"/>
              <a:gd name="connsiteY82" fmla="*/ 1622082 h 2448426"/>
              <a:gd name="connsiteX83" fmla="*/ 343460 w 2856679"/>
              <a:gd name="connsiteY83" fmla="*/ 1747904 h 2448426"/>
              <a:gd name="connsiteX84" fmla="*/ 207436 w 2856679"/>
              <a:gd name="connsiteY84" fmla="*/ 686920 h 2448426"/>
              <a:gd name="connsiteX85" fmla="*/ 343460 w 2856679"/>
              <a:gd name="connsiteY85" fmla="*/ 737928 h 2448426"/>
              <a:gd name="connsiteX86" fmla="*/ 343460 w 2856679"/>
              <a:gd name="connsiteY86" fmla="*/ 863750 h 2448426"/>
              <a:gd name="connsiteX87" fmla="*/ 207436 w 2856679"/>
              <a:gd name="connsiteY87" fmla="*/ 748130 h 2448426"/>
              <a:gd name="connsiteX88" fmla="*/ 207436 w 2856679"/>
              <a:gd name="connsiteY88" fmla="*/ 686920 h 2448426"/>
              <a:gd name="connsiteX89" fmla="*/ 615507 w 2856679"/>
              <a:gd name="connsiteY89" fmla="*/ 795739 h 2448426"/>
              <a:gd name="connsiteX90" fmla="*/ 615507 w 2856679"/>
              <a:gd name="connsiteY90" fmla="*/ 931762 h 2448426"/>
              <a:gd name="connsiteX91" fmla="*/ 479483 w 2856679"/>
              <a:gd name="connsiteY91" fmla="*/ 907958 h 2448426"/>
              <a:gd name="connsiteX92" fmla="*/ 479483 w 2856679"/>
              <a:gd name="connsiteY92" fmla="*/ 775335 h 2448426"/>
              <a:gd name="connsiteX93" fmla="*/ 615507 w 2856679"/>
              <a:gd name="connsiteY93" fmla="*/ 795739 h 2448426"/>
              <a:gd name="connsiteX94" fmla="*/ 955566 w 2856679"/>
              <a:gd name="connsiteY94" fmla="*/ 204036 h 2448426"/>
              <a:gd name="connsiteX95" fmla="*/ 1703696 w 2856679"/>
              <a:gd name="connsiteY95" fmla="*/ 408071 h 2448426"/>
              <a:gd name="connsiteX96" fmla="*/ 955566 w 2856679"/>
              <a:gd name="connsiteY96" fmla="*/ 612107 h 2448426"/>
              <a:gd name="connsiteX97" fmla="*/ 207436 w 2856679"/>
              <a:gd name="connsiteY97" fmla="*/ 408071 h 2448426"/>
              <a:gd name="connsiteX98" fmla="*/ 955566 w 2856679"/>
              <a:gd name="connsiteY98" fmla="*/ 204036 h 2448426"/>
              <a:gd name="connsiteX99" fmla="*/ 1159602 w 2856679"/>
              <a:gd name="connsiteY99" fmla="*/ 1815916 h 2448426"/>
              <a:gd name="connsiteX100" fmla="*/ 1023578 w 2856679"/>
              <a:gd name="connsiteY100" fmla="*/ 1700296 h 2448426"/>
              <a:gd name="connsiteX101" fmla="*/ 1023578 w 2856679"/>
              <a:gd name="connsiteY101" fmla="*/ 1639085 h 2448426"/>
              <a:gd name="connsiteX102" fmla="*/ 1159602 w 2856679"/>
              <a:gd name="connsiteY102" fmla="*/ 1690094 h 2448426"/>
              <a:gd name="connsiteX103" fmla="*/ 1159602 w 2856679"/>
              <a:gd name="connsiteY103" fmla="*/ 1815916 h 2448426"/>
              <a:gd name="connsiteX104" fmla="*/ 1567673 w 2856679"/>
              <a:gd name="connsiteY104" fmla="*/ 863750 h 2448426"/>
              <a:gd name="connsiteX105" fmla="*/ 1567673 w 2856679"/>
              <a:gd name="connsiteY105" fmla="*/ 741329 h 2448426"/>
              <a:gd name="connsiteX106" fmla="*/ 1703696 w 2856679"/>
              <a:gd name="connsiteY106" fmla="*/ 686920 h 2448426"/>
              <a:gd name="connsiteX107" fmla="*/ 1703696 w 2856679"/>
              <a:gd name="connsiteY107" fmla="*/ 748130 h 2448426"/>
              <a:gd name="connsiteX108" fmla="*/ 1567673 w 2856679"/>
              <a:gd name="connsiteY108" fmla="*/ 863750 h 2448426"/>
              <a:gd name="connsiteX109" fmla="*/ 1295625 w 2856679"/>
              <a:gd name="connsiteY109" fmla="*/ 928362 h 2448426"/>
              <a:gd name="connsiteX110" fmla="*/ 1295625 w 2856679"/>
              <a:gd name="connsiteY110" fmla="*/ 795739 h 2448426"/>
              <a:gd name="connsiteX111" fmla="*/ 1431649 w 2856679"/>
              <a:gd name="connsiteY111" fmla="*/ 775335 h 2448426"/>
              <a:gd name="connsiteX112" fmla="*/ 1431649 w 2856679"/>
              <a:gd name="connsiteY112" fmla="*/ 904557 h 2448426"/>
              <a:gd name="connsiteX113" fmla="*/ 1295625 w 2856679"/>
              <a:gd name="connsiteY113" fmla="*/ 928362 h 2448426"/>
              <a:gd name="connsiteX114" fmla="*/ 1023578 w 2856679"/>
              <a:gd name="connsiteY114" fmla="*/ 952166 h 2448426"/>
              <a:gd name="connsiteX115" fmla="*/ 1023578 w 2856679"/>
              <a:gd name="connsiteY115" fmla="*/ 816142 h 2448426"/>
              <a:gd name="connsiteX116" fmla="*/ 1159602 w 2856679"/>
              <a:gd name="connsiteY116" fmla="*/ 809341 h 2448426"/>
              <a:gd name="connsiteX117" fmla="*/ 1159602 w 2856679"/>
              <a:gd name="connsiteY117" fmla="*/ 945364 h 2448426"/>
              <a:gd name="connsiteX118" fmla="*/ 1023578 w 2856679"/>
              <a:gd name="connsiteY118" fmla="*/ 952166 h 2448426"/>
              <a:gd name="connsiteX119" fmla="*/ 751531 w 2856679"/>
              <a:gd name="connsiteY119" fmla="*/ 945364 h 2448426"/>
              <a:gd name="connsiteX120" fmla="*/ 751531 w 2856679"/>
              <a:gd name="connsiteY120" fmla="*/ 809341 h 2448426"/>
              <a:gd name="connsiteX121" fmla="*/ 887554 w 2856679"/>
              <a:gd name="connsiteY121" fmla="*/ 816142 h 2448426"/>
              <a:gd name="connsiteX122" fmla="*/ 887554 w 2856679"/>
              <a:gd name="connsiteY122" fmla="*/ 952166 h 2448426"/>
              <a:gd name="connsiteX123" fmla="*/ 751531 w 2856679"/>
              <a:gd name="connsiteY123" fmla="*/ 945364 h 2448426"/>
              <a:gd name="connsiteX124" fmla="*/ 2519839 w 2856679"/>
              <a:gd name="connsiteY124" fmla="*/ 1360237 h 2448426"/>
              <a:gd name="connsiteX125" fmla="*/ 1771708 w 2856679"/>
              <a:gd name="connsiteY125" fmla="*/ 1564272 h 2448426"/>
              <a:gd name="connsiteX126" fmla="*/ 1023578 w 2856679"/>
              <a:gd name="connsiteY126" fmla="*/ 1360237 h 2448426"/>
              <a:gd name="connsiteX127" fmla="*/ 1771708 w 2856679"/>
              <a:gd name="connsiteY127" fmla="*/ 1156201 h 2448426"/>
              <a:gd name="connsiteX128" fmla="*/ 2519839 w 2856679"/>
              <a:gd name="connsiteY128" fmla="*/ 1360237 h 2448426"/>
              <a:gd name="connsiteX129" fmla="*/ 2723874 w 2856679"/>
              <a:gd name="connsiteY129" fmla="*/ 1462254 h 2448426"/>
              <a:gd name="connsiteX130" fmla="*/ 2723874 w 2856679"/>
              <a:gd name="connsiteY130" fmla="*/ 1360237 h 2448426"/>
              <a:gd name="connsiteX131" fmla="*/ 2353210 w 2856679"/>
              <a:gd name="connsiteY131" fmla="*/ 1020178 h 2448426"/>
              <a:gd name="connsiteX132" fmla="*/ 2036955 w 2856679"/>
              <a:gd name="connsiteY132" fmla="*/ 965768 h 2448426"/>
              <a:gd name="connsiteX133" fmla="*/ 2040355 w 2856679"/>
              <a:gd name="connsiteY133" fmla="*/ 918160 h 2448426"/>
              <a:gd name="connsiteX134" fmla="*/ 1904331 w 2856679"/>
              <a:gd name="connsiteY134" fmla="*/ 680118 h 2448426"/>
              <a:gd name="connsiteX135" fmla="*/ 1904331 w 2856679"/>
              <a:gd name="connsiteY135" fmla="*/ 408071 h 2448426"/>
              <a:gd name="connsiteX136" fmla="*/ 1533667 w 2856679"/>
              <a:gd name="connsiteY136" fmla="*/ 68012 h 2448426"/>
              <a:gd name="connsiteX137" fmla="*/ 952166 w 2856679"/>
              <a:gd name="connsiteY137" fmla="*/ 0 h 2448426"/>
              <a:gd name="connsiteX138" fmla="*/ 0 w 2856679"/>
              <a:gd name="connsiteY138" fmla="*/ 408071 h 2448426"/>
              <a:gd name="connsiteX139" fmla="*/ 0 w 2856679"/>
              <a:gd name="connsiteY139" fmla="*/ 748130 h 2448426"/>
              <a:gd name="connsiteX140" fmla="*/ 136024 w 2856679"/>
              <a:gd name="connsiteY140" fmla="*/ 986172 h 2448426"/>
              <a:gd name="connsiteX141" fmla="*/ 136024 w 2856679"/>
              <a:gd name="connsiteY141" fmla="*/ 1050783 h 2448426"/>
              <a:gd name="connsiteX142" fmla="*/ 0 w 2856679"/>
              <a:gd name="connsiteY142" fmla="*/ 1292225 h 2448426"/>
              <a:gd name="connsiteX143" fmla="*/ 0 w 2856679"/>
              <a:gd name="connsiteY143" fmla="*/ 1632284 h 2448426"/>
              <a:gd name="connsiteX144" fmla="*/ 370664 w 2856679"/>
              <a:gd name="connsiteY144" fmla="*/ 1972343 h 2448426"/>
              <a:gd name="connsiteX145" fmla="*/ 952166 w 2856679"/>
              <a:gd name="connsiteY145" fmla="*/ 2040355 h 2448426"/>
              <a:gd name="connsiteX146" fmla="*/ 1322830 w 2856679"/>
              <a:gd name="connsiteY146" fmla="*/ 2380414 h 2448426"/>
              <a:gd name="connsiteX147" fmla="*/ 1904331 w 2856679"/>
              <a:gd name="connsiteY147" fmla="*/ 2448426 h 2448426"/>
              <a:gd name="connsiteX148" fmla="*/ 2856497 w 2856679"/>
              <a:gd name="connsiteY148" fmla="*/ 2040355 h 2448426"/>
              <a:gd name="connsiteX149" fmla="*/ 2856497 w 2856679"/>
              <a:gd name="connsiteY149" fmla="*/ 1700296 h 2448426"/>
              <a:gd name="connsiteX150" fmla="*/ 2723874 w 2856679"/>
              <a:gd name="connsiteY150" fmla="*/ 1462254 h 2448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2856679" h="2448426">
                <a:moveTo>
                  <a:pt x="2655862" y="2040355"/>
                </a:moveTo>
                <a:cubicBezTo>
                  <a:pt x="2655862" y="2084563"/>
                  <a:pt x="2604853" y="2125370"/>
                  <a:pt x="2519839" y="2155975"/>
                </a:cubicBezTo>
                <a:lnTo>
                  <a:pt x="2519839" y="2033554"/>
                </a:lnTo>
                <a:cubicBezTo>
                  <a:pt x="2567447" y="2019952"/>
                  <a:pt x="2615055" y="1999548"/>
                  <a:pt x="2655862" y="1979144"/>
                </a:cubicBezTo>
                <a:lnTo>
                  <a:pt x="2655862" y="2040355"/>
                </a:lnTo>
                <a:close/>
                <a:moveTo>
                  <a:pt x="2383815" y="1815916"/>
                </a:moveTo>
                <a:lnTo>
                  <a:pt x="2383815" y="1693495"/>
                </a:lnTo>
                <a:cubicBezTo>
                  <a:pt x="2431423" y="1679892"/>
                  <a:pt x="2479032" y="1659489"/>
                  <a:pt x="2519839" y="1639085"/>
                </a:cubicBezTo>
                <a:lnTo>
                  <a:pt x="2519839" y="1700296"/>
                </a:lnTo>
                <a:cubicBezTo>
                  <a:pt x="2519839" y="1744504"/>
                  <a:pt x="2468830" y="1785311"/>
                  <a:pt x="2383815" y="1815916"/>
                </a:cubicBezTo>
                <a:close/>
                <a:moveTo>
                  <a:pt x="2383815" y="2196782"/>
                </a:moveTo>
                <a:cubicBezTo>
                  <a:pt x="2343008" y="2206984"/>
                  <a:pt x="2295400" y="2213785"/>
                  <a:pt x="2247791" y="2220587"/>
                </a:cubicBezTo>
                <a:lnTo>
                  <a:pt x="2247791" y="2087963"/>
                </a:lnTo>
                <a:cubicBezTo>
                  <a:pt x="2291999" y="2081162"/>
                  <a:pt x="2339607" y="2074361"/>
                  <a:pt x="2383815" y="2067560"/>
                </a:cubicBezTo>
                <a:lnTo>
                  <a:pt x="2383815" y="2196782"/>
                </a:lnTo>
                <a:close/>
                <a:moveTo>
                  <a:pt x="2111768" y="1747904"/>
                </a:moveTo>
                <a:cubicBezTo>
                  <a:pt x="2155975" y="1741103"/>
                  <a:pt x="2203583" y="1734302"/>
                  <a:pt x="2247791" y="1727501"/>
                </a:cubicBezTo>
                <a:lnTo>
                  <a:pt x="2247791" y="1856723"/>
                </a:lnTo>
                <a:cubicBezTo>
                  <a:pt x="2206984" y="1866925"/>
                  <a:pt x="2159376" y="1873726"/>
                  <a:pt x="2111768" y="1880527"/>
                </a:cubicBezTo>
                <a:lnTo>
                  <a:pt x="2111768" y="1747904"/>
                </a:lnTo>
                <a:close/>
                <a:moveTo>
                  <a:pt x="2111768" y="2237590"/>
                </a:moveTo>
                <a:cubicBezTo>
                  <a:pt x="2067560" y="2240990"/>
                  <a:pt x="2023352" y="2244391"/>
                  <a:pt x="1975744" y="2244391"/>
                </a:cubicBezTo>
                <a:lnTo>
                  <a:pt x="1975744" y="2108367"/>
                </a:lnTo>
                <a:cubicBezTo>
                  <a:pt x="2016551" y="2108367"/>
                  <a:pt x="2064159" y="2104966"/>
                  <a:pt x="2111768" y="2101566"/>
                </a:cubicBezTo>
                <a:lnTo>
                  <a:pt x="2111768" y="2237590"/>
                </a:lnTo>
                <a:close/>
                <a:moveTo>
                  <a:pt x="1839720" y="1904331"/>
                </a:moveTo>
                <a:lnTo>
                  <a:pt x="1839720" y="1768308"/>
                </a:lnTo>
                <a:cubicBezTo>
                  <a:pt x="1880527" y="1768308"/>
                  <a:pt x="1928135" y="1764907"/>
                  <a:pt x="1975744" y="1761507"/>
                </a:cubicBezTo>
                <a:lnTo>
                  <a:pt x="1975744" y="1897530"/>
                </a:lnTo>
                <a:cubicBezTo>
                  <a:pt x="1931536" y="1900931"/>
                  <a:pt x="1887328" y="1900931"/>
                  <a:pt x="1839720" y="1904331"/>
                </a:cubicBezTo>
                <a:close/>
                <a:moveTo>
                  <a:pt x="1839720" y="2244391"/>
                </a:moveTo>
                <a:cubicBezTo>
                  <a:pt x="1792112" y="2244391"/>
                  <a:pt x="1747904" y="2240990"/>
                  <a:pt x="1703696" y="2237590"/>
                </a:cubicBezTo>
                <a:lnTo>
                  <a:pt x="1703696" y="2108367"/>
                </a:lnTo>
                <a:cubicBezTo>
                  <a:pt x="1727501" y="2108367"/>
                  <a:pt x="1747904" y="2108367"/>
                  <a:pt x="1771708" y="2108367"/>
                </a:cubicBezTo>
                <a:cubicBezTo>
                  <a:pt x="1792112" y="2108367"/>
                  <a:pt x="1815916" y="2108367"/>
                  <a:pt x="1839720" y="2108367"/>
                </a:cubicBezTo>
                <a:lnTo>
                  <a:pt x="1839720" y="2244391"/>
                </a:lnTo>
                <a:close/>
                <a:moveTo>
                  <a:pt x="1567673" y="1761507"/>
                </a:moveTo>
                <a:cubicBezTo>
                  <a:pt x="1611880" y="1764907"/>
                  <a:pt x="1656088" y="1768308"/>
                  <a:pt x="1703696" y="1768308"/>
                </a:cubicBezTo>
                <a:lnTo>
                  <a:pt x="1703696" y="1904331"/>
                </a:lnTo>
                <a:cubicBezTo>
                  <a:pt x="1656088" y="1904331"/>
                  <a:pt x="1611880" y="1900931"/>
                  <a:pt x="1567673" y="1897530"/>
                </a:cubicBezTo>
                <a:lnTo>
                  <a:pt x="1567673" y="1761507"/>
                </a:lnTo>
                <a:close/>
                <a:moveTo>
                  <a:pt x="1567673" y="2220587"/>
                </a:moveTo>
                <a:cubicBezTo>
                  <a:pt x="1520064" y="2213785"/>
                  <a:pt x="1472456" y="2206984"/>
                  <a:pt x="1431649" y="2196782"/>
                </a:cubicBezTo>
                <a:lnTo>
                  <a:pt x="1431649" y="2087963"/>
                </a:lnTo>
                <a:cubicBezTo>
                  <a:pt x="1475857" y="2094764"/>
                  <a:pt x="1520064" y="2098165"/>
                  <a:pt x="1567673" y="2101566"/>
                </a:cubicBezTo>
                <a:lnTo>
                  <a:pt x="1567673" y="2220587"/>
                </a:lnTo>
                <a:close/>
                <a:moveTo>
                  <a:pt x="1295625" y="1856723"/>
                </a:moveTo>
                <a:lnTo>
                  <a:pt x="1295625" y="1724100"/>
                </a:lnTo>
                <a:cubicBezTo>
                  <a:pt x="1339833" y="1730901"/>
                  <a:pt x="1384041" y="1741103"/>
                  <a:pt x="1431649" y="1744504"/>
                </a:cubicBezTo>
                <a:lnTo>
                  <a:pt x="1431649" y="1880527"/>
                </a:lnTo>
                <a:cubicBezTo>
                  <a:pt x="1384041" y="1873726"/>
                  <a:pt x="1336433" y="1866925"/>
                  <a:pt x="1295625" y="1856723"/>
                </a:cubicBezTo>
                <a:close/>
                <a:moveTo>
                  <a:pt x="1295625" y="2155975"/>
                </a:moveTo>
                <a:cubicBezTo>
                  <a:pt x="1210611" y="2121969"/>
                  <a:pt x="1159602" y="2081162"/>
                  <a:pt x="1159602" y="2040355"/>
                </a:cubicBezTo>
                <a:lnTo>
                  <a:pt x="1159602" y="2033554"/>
                </a:lnTo>
                <a:cubicBezTo>
                  <a:pt x="1159602" y="2033554"/>
                  <a:pt x="1159602" y="2033554"/>
                  <a:pt x="1163002" y="2033554"/>
                </a:cubicBezTo>
                <a:cubicBezTo>
                  <a:pt x="1173204" y="2036955"/>
                  <a:pt x="1180005" y="2040355"/>
                  <a:pt x="1190207" y="2040355"/>
                </a:cubicBezTo>
                <a:cubicBezTo>
                  <a:pt x="1224213" y="2050557"/>
                  <a:pt x="1258219" y="2057358"/>
                  <a:pt x="1295625" y="2064159"/>
                </a:cubicBezTo>
                <a:lnTo>
                  <a:pt x="1295625" y="2155975"/>
                </a:lnTo>
                <a:close/>
                <a:moveTo>
                  <a:pt x="751531" y="1693495"/>
                </a:moveTo>
                <a:cubicBezTo>
                  <a:pt x="775335" y="1693495"/>
                  <a:pt x="795738" y="1696895"/>
                  <a:pt x="819543" y="1696895"/>
                </a:cubicBezTo>
                <a:lnTo>
                  <a:pt x="819543" y="1700296"/>
                </a:lnTo>
                <a:cubicBezTo>
                  <a:pt x="819543" y="1747904"/>
                  <a:pt x="829744" y="1795513"/>
                  <a:pt x="853549" y="1832919"/>
                </a:cubicBezTo>
                <a:cubicBezTo>
                  <a:pt x="819543" y="1832919"/>
                  <a:pt x="785537" y="1829518"/>
                  <a:pt x="751531" y="1826118"/>
                </a:cubicBezTo>
                <a:lnTo>
                  <a:pt x="751531" y="1693495"/>
                </a:lnTo>
                <a:close/>
                <a:moveTo>
                  <a:pt x="615507" y="1285424"/>
                </a:moveTo>
                <a:cubicBezTo>
                  <a:pt x="659715" y="1292225"/>
                  <a:pt x="703923" y="1302427"/>
                  <a:pt x="751531" y="1305827"/>
                </a:cubicBezTo>
                <a:lnTo>
                  <a:pt x="751531" y="1441851"/>
                </a:lnTo>
                <a:cubicBezTo>
                  <a:pt x="703923" y="1435050"/>
                  <a:pt x="656314" y="1428249"/>
                  <a:pt x="615507" y="1418047"/>
                </a:cubicBezTo>
                <a:lnTo>
                  <a:pt x="615507" y="1285424"/>
                </a:lnTo>
                <a:close/>
                <a:moveTo>
                  <a:pt x="615507" y="1812516"/>
                </a:moveTo>
                <a:cubicBezTo>
                  <a:pt x="567899" y="1805714"/>
                  <a:pt x="520291" y="1798913"/>
                  <a:pt x="479483" y="1788711"/>
                </a:cubicBezTo>
                <a:lnTo>
                  <a:pt x="479483" y="1656088"/>
                </a:lnTo>
                <a:cubicBezTo>
                  <a:pt x="523691" y="1662889"/>
                  <a:pt x="567899" y="1673091"/>
                  <a:pt x="615507" y="1676492"/>
                </a:cubicBezTo>
                <a:lnTo>
                  <a:pt x="615507" y="1812516"/>
                </a:lnTo>
                <a:close/>
                <a:moveTo>
                  <a:pt x="343460" y="1258219"/>
                </a:moveTo>
                <a:lnTo>
                  <a:pt x="343460" y="1197008"/>
                </a:lnTo>
                <a:cubicBezTo>
                  <a:pt x="384267" y="1217412"/>
                  <a:pt x="428475" y="1234415"/>
                  <a:pt x="479483" y="1248017"/>
                </a:cubicBezTo>
                <a:lnTo>
                  <a:pt x="479483" y="1373839"/>
                </a:lnTo>
                <a:cubicBezTo>
                  <a:pt x="394469" y="1343234"/>
                  <a:pt x="343460" y="1302427"/>
                  <a:pt x="343460" y="1258219"/>
                </a:cubicBezTo>
                <a:close/>
                <a:moveTo>
                  <a:pt x="343460" y="1747904"/>
                </a:moveTo>
                <a:cubicBezTo>
                  <a:pt x="258445" y="1713898"/>
                  <a:pt x="207436" y="1673091"/>
                  <a:pt x="207436" y="1632284"/>
                </a:cubicBezTo>
                <a:lnTo>
                  <a:pt x="207436" y="1571073"/>
                </a:lnTo>
                <a:cubicBezTo>
                  <a:pt x="248243" y="1591477"/>
                  <a:pt x="292451" y="1608480"/>
                  <a:pt x="343460" y="1622082"/>
                </a:cubicBezTo>
                <a:lnTo>
                  <a:pt x="343460" y="1747904"/>
                </a:lnTo>
                <a:close/>
                <a:moveTo>
                  <a:pt x="207436" y="686920"/>
                </a:moveTo>
                <a:cubicBezTo>
                  <a:pt x="248243" y="707323"/>
                  <a:pt x="292451" y="724326"/>
                  <a:pt x="343460" y="737928"/>
                </a:cubicBezTo>
                <a:lnTo>
                  <a:pt x="343460" y="863750"/>
                </a:lnTo>
                <a:cubicBezTo>
                  <a:pt x="258445" y="829744"/>
                  <a:pt x="207436" y="788937"/>
                  <a:pt x="207436" y="748130"/>
                </a:cubicBezTo>
                <a:lnTo>
                  <a:pt x="207436" y="686920"/>
                </a:lnTo>
                <a:close/>
                <a:moveTo>
                  <a:pt x="615507" y="795739"/>
                </a:moveTo>
                <a:lnTo>
                  <a:pt x="615507" y="931762"/>
                </a:lnTo>
                <a:cubicBezTo>
                  <a:pt x="567899" y="924961"/>
                  <a:pt x="520291" y="918160"/>
                  <a:pt x="479483" y="907958"/>
                </a:cubicBezTo>
                <a:lnTo>
                  <a:pt x="479483" y="775335"/>
                </a:lnTo>
                <a:cubicBezTo>
                  <a:pt x="523691" y="782136"/>
                  <a:pt x="567899" y="788937"/>
                  <a:pt x="615507" y="795739"/>
                </a:cubicBezTo>
                <a:close/>
                <a:moveTo>
                  <a:pt x="955566" y="204036"/>
                </a:moveTo>
                <a:cubicBezTo>
                  <a:pt x="1370439" y="204036"/>
                  <a:pt x="1703696" y="295852"/>
                  <a:pt x="1703696" y="408071"/>
                </a:cubicBezTo>
                <a:cubicBezTo>
                  <a:pt x="1703696" y="520291"/>
                  <a:pt x="1370439" y="612107"/>
                  <a:pt x="955566" y="612107"/>
                </a:cubicBezTo>
                <a:cubicBezTo>
                  <a:pt x="540694" y="612107"/>
                  <a:pt x="207436" y="520291"/>
                  <a:pt x="207436" y="408071"/>
                </a:cubicBezTo>
                <a:cubicBezTo>
                  <a:pt x="207436" y="295852"/>
                  <a:pt x="540694" y="204036"/>
                  <a:pt x="955566" y="204036"/>
                </a:cubicBezTo>
                <a:close/>
                <a:moveTo>
                  <a:pt x="1159602" y="1815916"/>
                </a:moveTo>
                <a:cubicBezTo>
                  <a:pt x="1074587" y="1781910"/>
                  <a:pt x="1023578" y="1741103"/>
                  <a:pt x="1023578" y="1700296"/>
                </a:cubicBezTo>
                <a:lnTo>
                  <a:pt x="1023578" y="1639085"/>
                </a:lnTo>
                <a:cubicBezTo>
                  <a:pt x="1064385" y="1659489"/>
                  <a:pt x="1108593" y="1676492"/>
                  <a:pt x="1159602" y="1690094"/>
                </a:cubicBezTo>
                <a:lnTo>
                  <a:pt x="1159602" y="1815916"/>
                </a:lnTo>
                <a:close/>
                <a:moveTo>
                  <a:pt x="1567673" y="863750"/>
                </a:moveTo>
                <a:lnTo>
                  <a:pt x="1567673" y="741329"/>
                </a:lnTo>
                <a:cubicBezTo>
                  <a:pt x="1615281" y="727727"/>
                  <a:pt x="1662889" y="707323"/>
                  <a:pt x="1703696" y="686920"/>
                </a:cubicBezTo>
                <a:lnTo>
                  <a:pt x="1703696" y="748130"/>
                </a:lnTo>
                <a:cubicBezTo>
                  <a:pt x="1703696" y="792338"/>
                  <a:pt x="1652688" y="833145"/>
                  <a:pt x="1567673" y="863750"/>
                </a:cubicBezTo>
                <a:close/>
                <a:moveTo>
                  <a:pt x="1295625" y="928362"/>
                </a:moveTo>
                <a:lnTo>
                  <a:pt x="1295625" y="795739"/>
                </a:lnTo>
                <a:cubicBezTo>
                  <a:pt x="1339833" y="788937"/>
                  <a:pt x="1387441" y="782136"/>
                  <a:pt x="1431649" y="775335"/>
                </a:cubicBezTo>
                <a:lnTo>
                  <a:pt x="1431649" y="904557"/>
                </a:lnTo>
                <a:cubicBezTo>
                  <a:pt x="1390842" y="914759"/>
                  <a:pt x="1343234" y="921560"/>
                  <a:pt x="1295625" y="928362"/>
                </a:cubicBezTo>
                <a:close/>
                <a:moveTo>
                  <a:pt x="1023578" y="952166"/>
                </a:moveTo>
                <a:lnTo>
                  <a:pt x="1023578" y="816142"/>
                </a:lnTo>
                <a:cubicBezTo>
                  <a:pt x="1064385" y="816142"/>
                  <a:pt x="1111993" y="812741"/>
                  <a:pt x="1159602" y="809341"/>
                </a:cubicBezTo>
                <a:lnTo>
                  <a:pt x="1159602" y="945364"/>
                </a:lnTo>
                <a:cubicBezTo>
                  <a:pt x="1115394" y="948765"/>
                  <a:pt x="1071186" y="948765"/>
                  <a:pt x="1023578" y="952166"/>
                </a:cubicBezTo>
                <a:close/>
                <a:moveTo>
                  <a:pt x="751531" y="945364"/>
                </a:moveTo>
                <a:lnTo>
                  <a:pt x="751531" y="809341"/>
                </a:lnTo>
                <a:cubicBezTo>
                  <a:pt x="795738" y="812741"/>
                  <a:pt x="839946" y="816142"/>
                  <a:pt x="887554" y="816142"/>
                </a:cubicBezTo>
                <a:lnTo>
                  <a:pt x="887554" y="952166"/>
                </a:lnTo>
                <a:cubicBezTo>
                  <a:pt x="839946" y="948765"/>
                  <a:pt x="795738" y="948765"/>
                  <a:pt x="751531" y="945364"/>
                </a:cubicBezTo>
                <a:close/>
                <a:moveTo>
                  <a:pt x="2519839" y="1360237"/>
                </a:moveTo>
                <a:cubicBezTo>
                  <a:pt x="2519839" y="1472456"/>
                  <a:pt x="2186580" y="1564272"/>
                  <a:pt x="1771708" y="1564272"/>
                </a:cubicBezTo>
                <a:cubicBezTo>
                  <a:pt x="1356836" y="1564272"/>
                  <a:pt x="1023578" y="1472456"/>
                  <a:pt x="1023578" y="1360237"/>
                </a:cubicBezTo>
                <a:cubicBezTo>
                  <a:pt x="1023578" y="1248017"/>
                  <a:pt x="1356836" y="1156201"/>
                  <a:pt x="1771708" y="1156201"/>
                </a:cubicBezTo>
                <a:cubicBezTo>
                  <a:pt x="2186580" y="1156201"/>
                  <a:pt x="2519839" y="1248017"/>
                  <a:pt x="2519839" y="1360237"/>
                </a:cubicBezTo>
                <a:close/>
                <a:moveTo>
                  <a:pt x="2723874" y="1462254"/>
                </a:moveTo>
                <a:lnTo>
                  <a:pt x="2723874" y="1360237"/>
                </a:lnTo>
                <a:cubicBezTo>
                  <a:pt x="2723874" y="1200409"/>
                  <a:pt x="2598052" y="1084789"/>
                  <a:pt x="2353210" y="1020178"/>
                </a:cubicBezTo>
                <a:cubicBezTo>
                  <a:pt x="2261394" y="996373"/>
                  <a:pt x="2155975" y="975970"/>
                  <a:pt x="2036955" y="965768"/>
                </a:cubicBezTo>
                <a:cubicBezTo>
                  <a:pt x="2040355" y="952166"/>
                  <a:pt x="2040355" y="935163"/>
                  <a:pt x="2040355" y="918160"/>
                </a:cubicBezTo>
                <a:cubicBezTo>
                  <a:pt x="2040355" y="822943"/>
                  <a:pt x="1996147" y="741329"/>
                  <a:pt x="1904331" y="680118"/>
                </a:cubicBezTo>
                <a:lnTo>
                  <a:pt x="1904331" y="408071"/>
                </a:lnTo>
                <a:cubicBezTo>
                  <a:pt x="1904331" y="248243"/>
                  <a:pt x="1778510" y="132623"/>
                  <a:pt x="1533667" y="68012"/>
                </a:cubicBezTo>
                <a:cubicBezTo>
                  <a:pt x="1373839" y="23804"/>
                  <a:pt x="1169804" y="0"/>
                  <a:pt x="952166" y="0"/>
                </a:cubicBezTo>
                <a:cubicBezTo>
                  <a:pt x="666516" y="0"/>
                  <a:pt x="0" y="40807"/>
                  <a:pt x="0" y="408071"/>
                </a:cubicBezTo>
                <a:lnTo>
                  <a:pt x="0" y="748130"/>
                </a:lnTo>
                <a:cubicBezTo>
                  <a:pt x="0" y="843347"/>
                  <a:pt x="44208" y="924961"/>
                  <a:pt x="136024" y="986172"/>
                </a:cubicBezTo>
                <a:lnTo>
                  <a:pt x="136024" y="1050783"/>
                </a:lnTo>
                <a:cubicBezTo>
                  <a:pt x="54409" y="1108593"/>
                  <a:pt x="0" y="1186807"/>
                  <a:pt x="0" y="1292225"/>
                </a:cubicBezTo>
                <a:lnTo>
                  <a:pt x="0" y="1632284"/>
                </a:lnTo>
                <a:cubicBezTo>
                  <a:pt x="0" y="1792112"/>
                  <a:pt x="125822" y="1907732"/>
                  <a:pt x="370664" y="1972343"/>
                </a:cubicBezTo>
                <a:cubicBezTo>
                  <a:pt x="530492" y="2016551"/>
                  <a:pt x="734528" y="2040355"/>
                  <a:pt x="952166" y="2040355"/>
                </a:cubicBezTo>
                <a:cubicBezTo>
                  <a:pt x="952166" y="2200183"/>
                  <a:pt x="1077988" y="2315803"/>
                  <a:pt x="1322830" y="2380414"/>
                </a:cubicBezTo>
                <a:cubicBezTo>
                  <a:pt x="1482658" y="2424622"/>
                  <a:pt x="1686694" y="2448426"/>
                  <a:pt x="1904331" y="2448426"/>
                </a:cubicBezTo>
                <a:cubicBezTo>
                  <a:pt x="2189981" y="2448426"/>
                  <a:pt x="2856497" y="2407619"/>
                  <a:pt x="2856497" y="2040355"/>
                </a:cubicBezTo>
                <a:lnTo>
                  <a:pt x="2856497" y="1700296"/>
                </a:lnTo>
                <a:cubicBezTo>
                  <a:pt x="2859898" y="1605079"/>
                  <a:pt x="2815690" y="1523465"/>
                  <a:pt x="2723874" y="1462254"/>
                </a:cubicBezTo>
                <a:close/>
              </a:path>
            </a:pathLst>
          </a:custGeom>
          <a:solidFill>
            <a:srgbClr val="000000"/>
          </a:solidFill>
          <a:ln w="3393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6406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2D233F-C7D7-46E6-9DC3-7290DF6239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A4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07E60B-5E8E-4278-94E9-39577747CED3}"/>
              </a:ext>
            </a:extLst>
          </p:cNvPr>
          <p:cNvSpPr txBox="1"/>
          <p:nvPr/>
        </p:nvSpPr>
        <p:spPr>
          <a:xfrm>
            <a:off x="-13444031" y="2400431"/>
            <a:ext cx="9554817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b="1" dirty="0">
                <a:solidFill>
                  <a:srgbClr val="FF0066"/>
                </a:solidFill>
                <a:latin typeface="Arial Black" panose="020B0A04020102020204" pitchFamily="34" charset="0"/>
              </a:rPr>
              <a:t>SUBJECT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AD154BD-51FE-43E1-BF84-E0F4DDC01BE5}"/>
              </a:ext>
            </a:extLst>
          </p:cNvPr>
          <p:cNvSpPr/>
          <p:nvPr/>
        </p:nvSpPr>
        <p:spPr>
          <a:xfrm>
            <a:off x="-6125586" y="-203982"/>
            <a:ext cx="6318504" cy="3383280"/>
          </a:xfrm>
          <a:prstGeom prst="roundRect">
            <a:avLst/>
          </a:prstGeom>
          <a:solidFill>
            <a:srgbClr val="7105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89986A9-0E54-46DB-9514-2C0E2FA55DE1}"/>
              </a:ext>
            </a:extLst>
          </p:cNvPr>
          <p:cNvSpPr/>
          <p:nvPr/>
        </p:nvSpPr>
        <p:spPr>
          <a:xfrm>
            <a:off x="2936748" y="-3035612"/>
            <a:ext cx="6318504" cy="3383280"/>
          </a:xfrm>
          <a:prstGeom prst="roundRect">
            <a:avLst/>
          </a:prstGeom>
          <a:solidFill>
            <a:srgbClr val="B10B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099E328-5535-47C4-B1C6-65BF7E7AFEFA}"/>
              </a:ext>
            </a:extLst>
          </p:cNvPr>
          <p:cNvSpPr/>
          <p:nvPr/>
        </p:nvSpPr>
        <p:spPr>
          <a:xfrm>
            <a:off x="11806164" y="-51825"/>
            <a:ext cx="6318504" cy="3383280"/>
          </a:xfrm>
          <a:prstGeom prst="roundRect">
            <a:avLst/>
          </a:prstGeom>
          <a:solidFill>
            <a:srgbClr val="CB1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DF2AC55-5EA9-4AF3-93D3-A9F01D64DC53}"/>
              </a:ext>
            </a:extLst>
          </p:cNvPr>
          <p:cNvSpPr/>
          <p:nvPr/>
        </p:nvSpPr>
        <p:spPr>
          <a:xfrm>
            <a:off x="11743578" y="3584252"/>
            <a:ext cx="6318504" cy="3383280"/>
          </a:xfrm>
          <a:prstGeom prst="roundRect">
            <a:avLst/>
          </a:prstGeom>
          <a:solidFill>
            <a:srgbClr val="B965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B7AE608-6BB2-4B84-87A3-740818548238}"/>
              </a:ext>
            </a:extLst>
          </p:cNvPr>
          <p:cNvSpPr/>
          <p:nvPr/>
        </p:nvSpPr>
        <p:spPr>
          <a:xfrm>
            <a:off x="385836" y="457200"/>
            <a:ext cx="11164824" cy="5943600"/>
          </a:xfrm>
          <a:prstGeom prst="roundRect">
            <a:avLst/>
          </a:prstGeom>
          <a:solidFill>
            <a:srgbClr val="DB45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3399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B9C95F2-DC25-4F7D-B3D6-45B217380EAC}"/>
              </a:ext>
            </a:extLst>
          </p:cNvPr>
          <p:cNvSpPr/>
          <p:nvPr/>
        </p:nvSpPr>
        <p:spPr>
          <a:xfrm>
            <a:off x="-6125586" y="3483612"/>
            <a:ext cx="6318504" cy="3383280"/>
          </a:xfrm>
          <a:prstGeom prst="roundRect">
            <a:avLst/>
          </a:prstGeom>
          <a:solidFill>
            <a:srgbClr val="FF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2343B2-320D-46FE-8AF7-59DF25CE6ADC}"/>
              </a:ext>
            </a:extLst>
          </p:cNvPr>
          <p:cNvSpPr txBox="1"/>
          <p:nvPr/>
        </p:nvSpPr>
        <p:spPr>
          <a:xfrm>
            <a:off x="854403" y="805956"/>
            <a:ext cx="508167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chemeClr val="bg1"/>
                </a:solidFill>
              </a:rPr>
              <a:t>NGX (Nigerian Exchange Group)</a:t>
            </a:r>
            <a:endParaRPr lang="en-US" sz="36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chemeClr val="bg1"/>
                </a:solidFill>
              </a:rPr>
              <a:t>🕒 Market Opening Time</a:t>
            </a:r>
          </a:p>
          <a:p>
            <a:pPr marL="571500" indent="-571500">
              <a:lnSpc>
                <a:spcPct val="150000"/>
              </a:lnSpc>
              <a:buClr>
                <a:schemeClr val="bg1"/>
              </a:buClr>
              <a:buFont typeface="Century Gothic" panose="020B0502020202020204" pitchFamily="34" charset="0"/>
              <a:buChar char="►"/>
            </a:pPr>
            <a:r>
              <a:rPr lang="en-US" sz="3600" dirty="0">
                <a:solidFill>
                  <a:schemeClr val="bg1"/>
                </a:solidFill>
              </a:rPr>
              <a:t>Monday – Friday</a:t>
            </a:r>
          </a:p>
          <a:p>
            <a:pPr marL="571500" indent="-571500">
              <a:lnSpc>
                <a:spcPct val="150000"/>
              </a:lnSpc>
              <a:buClr>
                <a:schemeClr val="bg1"/>
              </a:buClr>
              <a:buFont typeface="Century Gothic" panose="020B0502020202020204" pitchFamily="34" charset="0"/>
              <a:buChar char="►"/>
            </a:pPr>
            <a:r>
              <a:rPr lang="en-US" sz="3600" dirty="0">
                <a:solidFill>
                  <a:schemeClr val="bg1"/>
                </a:solidFill>
              </a:rPr>
              <a:t>Opens:</a:t>
            </a:r>
            <a:r>
              <a:rPr lang="en-US" sz="3600" b="1" dirty="0">
                <a:solidFill>
                  <a:schemeClr val="bg1"/>
                </a:solidFill>
              </a:rPr>
              <a:t> </a:t>
            </a:r>
            <a:r>
              <a:rPr lang="en-US" sz="3600" dirty="0">
                <a:solidFill>
                  <a:schemeClr val="bg1"/>
                </a:solidFill>
              </a:rPr>
              <a:t>10:00 AM</a:t>
            </a:r>
          </a:p>
          <a:p>
            <a:pPr marL="571500" indent="-571500">
              <a:lnSpc>
                <a:spcPct val="150000"/>
              </a:lnSpc>
              <a:buClr>
                <a:schemeClr val="bg1"/>
              </a:buClr>
              <a:buFont typeface="Century Gothic" panose="020B0502020202020204" pitchFamily="34" charset="0"/>
              <a:buChar char="►"/>
            </a:pPr>
            <a:r>
              <a:rPr lang="en-US" sz="3600" dirty="0">
                <a:solidFill>
                  <a:schemeClr val="bg1"/>
                </a:solidFill>
              </a:rPr>
              <a:t>Closes:</a:t>
            </a:r>
            <a:r>
              <a:rPr lang="en-US" sz="3600" b="1" dirty="0">
                <a:solidFill>
                  <a:schemeClr val="bg1"/>
                </a:solidFill>
              </a:rPr>
              <a:t> </a:t>
            </a:r>
            <a:r>
              <a:rPr lang="en-US" sz="3600" dirty="0">
                <a:solidFill>
                  <a:schemeClr val="bg1"/>
                </a:solidFill>
              </a:rPr>
              <a:t>2:30 PM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42EA9A-86F3-4AD5-9E93-3085B7823E2C}"/>
              </a:ext>
            </a:extLst>
          </p:cNvPr>
          <p:cNvSpPr txBox="1"/>
          <p:nvPr/>
        </p:nvSpPr>
        <p:spPr>
          <a:xfrm>
            <a:off x="6748437" y="664902"/>
            <a:ext cx="4331368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50000"/>
              </a:lnSpc>
              <a:buClr>
                <a:schemeClr val="bg1"/>
              </a:buClr>
              <a:buFont typeface="Century Gothic" panose="020B0502020202020204" pitchFamily="34" charset="0"/>
              <a:buChar char="►"/>
            </a:pPr>
            <a:r>
              <a:rPr lang="en-US" sz="4000" dirty="0">
                <a:solidFill>
                  <a:schemeClr val="bg1"/>
                </a:solidFill>
              </a:rPr>
              <a:t>Zenith Plc</a:t>
            </a:r>
          </a:p>
          <a:p>
            <a:pPr marL="571500" indent="-571500">
              <a:lnSpc>
                <a:spcPct val="150000"/>
              </a:lnSpc>
              <a:buClr>
                <a:schemeClr val="bg1"/>
              </a:buClr>
              <a:buFont typeface="Century Gothic" panose="020B0502020202020204" pitchFamily="34" charset="0"/>
              <a:buChar char="►"/>
            </a:pPr>
            <a:r>
              <a:rPr lang="en-US" sz="4000" dirty="0">
                <a:solidFill>
                  <a:schemeClr val="bg1"/>
                </a:solidFill>
              </a:rPr>
              <a:t>GTCO</a:t>
            </a:r>
          </a:p>
          <a:p>
            <a:pPr marL="571500" indent="-571500">
              <a:lnSpc>
                <a:spcPct val="150000"/>
              </a:lnSpc>
              <a:buClr>
                <a:schemeClr val="bg1"/>
              </a:buClr>
              <a:buFont typeface="Century Gothic" panose="020B0502020202020204" pitchFamily="34" charset="0"/>
              <a:buChar char="►"/>
            </a:pPr>
            <a:r>
              <a:rPr lang="en-US" sz="4000" dirty="0">
                <a:solidFill>
                  <a:schemeClr val="bg1"/>
                </a:solidFill>
              </a:rPr>
              <a:t>MTN</a:t>
            </a:r>
          </a:p>
          <a:p>
            <a:pPr marL="571500" indent="-571500">
              <a:lnSpc>
                <a:spcPct val="150000"/>
              </a:lnSpc>
              <a:buClr>
                <a:schemeClr val="bg1"/>
              </a:buClr>
              <a:buFont typeface="Century Gothic" panose="020B0502020202020204" pitchFamily="34" charset="0"/>
              <a:buChar char="►"/>
            </a:pPr>
            <a:r>
              <a:rPr lang="en-US" sz="4000" dirty="0">
                <a:solidFill>
                  <a:schemeClr val="bg1"/>
                </a:solidFill>
              </a:rPr>
              <a:t>BUA GROUP</a:t>
            </a:r>
          </a:p>
          <a:p>
            <a:pPr marL="571500" indent="-571500">
              <a:lnSpc>
                <a:spcPct val="150000"/>
              </a:lnSpc>
              <a:buClr>
                <a:schemeClr val="bg1"/>
              </a:buClr>
              <a:buFont typeface="Century Gothic" panose="020B0502020202020204" pitchFamily="34" charset="0"/>
              <a:buChar char="►"/>
            </a:pPr>
            <a:r>
              <a:rPr lang="en-US" sz="4000" dirty="0">
                <a:solidFill>
                  <a:schemeClr val="bg1"/>
                </a:solidFill>
              </a:rPr>
              <a:t>DANGOTE GROUP</a:t>
            </a:r>
          </a:p>
          <a:p>
            <a:pPr>
              <a:buClr>
                <a:schemeClr val="bg1"/>
              </a:buClr>
            </a:pPr>
            <a:endParaRPr 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60285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2D233F-C7D7-46E6-9DC3-7290DF6239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A4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07E60B-5E8E-4278-94E9-39577747CED3}"/>
              </a:ext>
            </a:extLst>
          </p:cNvPr>
          <p:cNvSpPr txBox="1"/>
          <p:nvPr/>
        </p:nvSpPr>
        <p:spPr>
          <a:xfrm>
            <a:off x="-13444031" y="2400431"/>
            <a:ext cx="9554817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b="1" dirty="0">
                <a:solidFill>
                  <a:srgbClr val="FF0066"/>
                </a:solidFill>
                <a:latin typeface="Arial Black" panose="020B0A04020102020204" pitchFamily="34" charset="0"/>
              </a:rPr>
              <a:t>SUBJECT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AD154BD-51FE-43E1-BF84-E0F4DDC01BE5}"/>
              </a:ext>
            </a:extLst>
          </p:cNvPr>
          <p:cNvSpPr/>
          <p:nvPr/>
        </p:nvSpPr>
        <p:spPr>
          <a:xfrm>
            <a:off x="-6012558" y="-203982"/>
            <a:ext cx="6318504" cy="3383280"/>
          </a:xfrm>
          <a:prstGeom prst="roundRect">
            <a:avLst/>
          </a:prstGeom>
          <a:solidFill>
            <a:srgbClr val="7105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89986A9-0E54-46DB-9514-2C0E2FA55DE1}"/>
              </a:ext>
            </a:extLst>
          </p:cNvPr>
          <p:cNvSpPr/>
          <p:nvPr/>
        </p:nvSpPr>
        <p:spPr>
          <a:xfrm>
            <a:off x="2936748" y="-3177540"/>
            <a:ext cx="6318504" cy="3383280"/>
          </a:xfrm>
          <a:prstGeom prst="roundRect">
            <a:avLst/>
          </a:prstGeom>
          <a:solidFill>
            <a:srgbClr val="B10B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099E328-5535-47C4-B1C6-65BF7E7AFEFA}"/>
              </a:ext>
            </a:extLst>
          </p:cNvPr>
          <p:cNvSpPr/>
          <p:nvPr/>
        </p:nvSpPr>
        <p:spPr>
          <a:xfrm>
            <a:off x="11789664" y="100332"/>
            <a:ext cx="6318504" cy="3383280"/>
          </a:xfrm>
          <a:prstGeom prst="roundRect">
            <a:avLst/>
          </a:prstGeom>
          <a:solidFill>
            <a:srgbClr val="CB1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DF2AC55-5EA9-4AF3-93D3-A9F01D64DC53}"/>
              </a:ext>
            </a:extLst>
          </p:cNvPr>
          <p:cNvSpPr/>
          <p:nvPr/>
        </p:nvSpPr>
        <p:spPr>
          <a:xfrm>
            <a:off x="469543" y="411480"/>
            <a:ext cx="11164824" cy="5943600"/>
          </a:xfrm>
          <a:prstGeom prst="roundRect">
            <a:avLst/>
          </a:prstGeom>
          <a:solidFill>
            <a:srgbClr val="B965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B7AE608-6BB2-4B84-87A3-740818548238}"/>
              </a:ext>
            </a:extLst>
          </p:cNvPr>
          <p:cNvSpPr/>
          <p:nvPr/>
        </p:nvSpPr>
        <p:spPr>
          <a:xfrm>
            <a:off x="2936748" y="6560820"/>
            <a:ext cx="6318504" cy="3383280"/>
          </a:xfrm>
          <a:prstGeom prst="roundRect">
            <a:avLst/>
          </a:prstGeom>
          <a:solidFill>
            <a:srgbClr val="DB45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3399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B9C95F2-DC25-4F7D-B3D6-45B217380EAC}"/>
              </a:ext>
            </a:extLst>
          </p:cNvPr>
          <p:cNvSpPr/>
          <p:nvPr/>
        </p:nvSpPr>
        <p:spPr>
          <a:xfrm>
            <a:off x="-6012558" y="3483612"/>
            <a:ext cx="6318504" cy="3383280"/>
          </a:xfrm>
          <a:prstGeom prst="roundRect">
            <a:avLst/>
          </a:prstGeom>
          <a:solidFill>
            <a:srgbClr val="FF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4E0E1D-1199-4C01-B60B-05C0EA5C7E8B}"/>
              </a:ext>
            </a:extLst>
          </p:cNvPr>
          <p:cNvSpPr txBox="1"/>
          <p:nvPr/>
        </p:nvSpPr>
        <p:spPr>
          <a:xfrm>
            <a:off x="1337735" y="1620045"/>
            <a:ext cx="3769894" cy="37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lnSpc>
                <a:spcPct val="150000"/>
              </a:lnSpc>
              <a:buClr>
                <a:schemeClr val="bg1"/>
              </a:buClr>
              <a:buFont typeface="Century Gothic" panose="020B0502020202020204" pitchFamily="34" charset="0"/>
              <a:buChar char="►"/>
            </a:pPr>
            <a:r>
              <a:rPr lang="en-US" sz="3200" dirty="0">
                <a:solidFill>
                  <a:schemeClr val="bg1"/>
                </a:solidFill>
              </a:rPr>
              <a:t>Market  Volatility</a:t>
            </a:r>
          </a:p>
          <a:p>
            <a:pPr marL="285750" indent="-285750" algn="ctr">
              <a:lnSpc>
                <a:spcPct val="150000"/>
              </a:lnSpc>
              <a:buClr>
                <a:schemeClr val="bg1"/>
              </a:buClr>
              <a:buFont typeface="Century Gothic" panose="020B0502020202020204" pitchFamily="34" charset="0"/>
              <a:buChar char="►"/>
            </a:pPr>
            <a:r>
              <a:rPr lang="en-US" sz="3200" dirty="0">
                <a:solidFill>
                  <a:schemeClr val="bg1"/>
                </a:solidFill>
              </a:rPr>
              <a:t>Company Failure</a:t>
            </a:r>
          </a:p>
          <a:p>
            <a:pPr marL="285750" indent="-285750" algn="ctr">
              <a:lnSpc>
                <a:spcPct val="150000"/>
              </a:lnSpc>
              <a:buClr>
                <a:schemeClr val="bg1"/>
              </a:buClr>
              <a:buFont typeface="Century Gothic" panose="020B0502020202020204" pitchFamily="34" charset="0"/>
              <a:buChar char="►"/>
            </a:pPr>
            <a:r>
              <a:rPr lang="en-US" sz="3200" dirty="0">
                <a:solidFill>
                  <a:schemeClr val="bg1"/>
                </a:solidFill>
              </a:rPr>
              <a:t>Economic Downturns</a:t>
            </a:r>
          </a:p>
          <a:p>
            <a:pPr marL="285750" indent="-285750" algn="ctr">
              <a:lnSpc>
                <a:spcPct val="150000"/>
              </a:lnSpc>
              <a:buClr>
                <a:schemeClr val="bg1"/>
              </a:buClr>
              <a:buFont typeface="Century Gothic" panose="020B0502020202020204" pitchFamily="34" charset="0"/>
              <a:buChar char="►"/>
            </a:pPr>
            <a:r>
              <a:rPr lang="en-US" sz="3200" dirty="0">
                <a:solidFill>
                  <a:schemeClr val="bg1"/>
                </a:solidFill>
              </a:rPr>
              <a:t>Inflation Risk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7C1AD-61E6-45A2-A3A9-3A72C2AC2007}"/>
              </a:ext>
            </a:extLst>
          </p:cNvPr>
          <p:cNvSpPr txBox="1"/>
          <p:nvPr/>
        </p:nvSpPr>
        <p:spPr>
          <a:xfrm>
            <a:off x="6318504" y="1620045"/>
            <a:ext cx="4410477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lnSpc>
                <a:spcPct val="150000"/>
              </a:lnSpc>
              <a:buClr>
                <a:schemeClr val="bg1"/>
              </a:buClr>
              <a:buFont typeface="Century Gothic" panose="020B0502020202020204" pitchFamily="34" charset="0"/>
              <a:buChar char="►"/>
            </a:pPr>
            <a:r>
              <a:rPr lang="en-US" sz="3200" dirty="0">
                <a:solidFill>
                  <a:schemeClr val="bg1"/>
                </a:solidFill>
              </a:rPr>
              <a:t>Wealth growth</a:t>
            </a:r>
          </a:p>
          <a:p>
            <a:pPr marL="285750" indent="-285750" algn="ctr">
              <a:lnSpc>
                <a:spcPct val="150000"/>
              </a:lnSpc>
              <a:buClr>
                <a:schemeClr val="bg1"/>
              </a:buClr>
              <a:buFont typeface="Century Gothic" panose="020B0502020202020204" pitchFamily="34" charset="0"/>
              <a:buChar char="►"/>
            </a:pPr>
            <a:r>
              <a:rPr lang="en-US" sz="3200" dirty="0">
                <a:solidFill>
                  <a:schemeClr val="bg1"/>
                </a:solidFill>
              </a:rPr>
              <a:t>Passive income</a:t>
            </a:r>
          </a:p>
          <a:p>
            <a:pPr marL="285750" indent="-285750" algn="ctr">
              <a:lnSpc>
                <a:spcPct val="150000"/>
              </a:lnSpc>
              <a:buClr>
                <a:schemeClr val="bg1"/>
              </a:buClr>
              <a:buFont typeface="Century Gothic" panose="020B0502020202020204" pitchFamily="34" charset="0"/>
              <a:buChar char="►"/>
            </a:pPr>
            <a:r>
              <a:rPr lang="en-US" sz="3200" dirty="0">
                <a:solidFill>
                  <a:schemeClr val="bg1"/>
                </a:solidFill>
              </a:rPr>
              <a:t>Ownership in Companies</a:t>
            </a:r>
          </a:p>
          <a:p>
            <a:pPr marL="285750" indent="-285750" algn="ctr">
              <a:lnSpc>
                <a:spcPct val="150000"/>
              </a:lnSpc>
              <a:buClr>
                <a:schemeClr val="bg1"/>
              </a:buClr>
              <a:buFont typeface="Century Gothic" panose="020B0502020202020204" pitchFamily="34" charset="0"/>
              <a:buChar char="►"/>
            </a:pPr>
            <a:r>
              <a:rPr lang="en-US" sz="3200" dirty="0">
                <a:solidFill>
                  <a:schemeClr val="bg1"/>
                </a:solidFill>
              </a:rPr>
              <a:t>Hedge against Inflation</a:t>
            </a:r>
          </a:p>
          <a:p>
            <a:pPr>
              <a:buClr>
                <a:schemeClr val="bg1"/>
              </a:buClr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1249FA-A2B9-4DDE-95FF-46F885A83971}"/>
              </a:ext>
            </a:extLst>
          </p:cNvPr>
          <p:cNvSpPr txBox="1"/>
          <p:nvPr/>
        </p:nvSpPr>
        <p:spPr>
          <a:xfrm>
            <a:off x="1337735" y="873457"/>
            <a:ext cx="38757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Arial Black" panose="020B0A04020102020204" pitchFamily="34" charset="0"/>
              </a:rPr>
              <a:t>Risks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DF8AE7-2A59-436D-AEE9-7D3D2CD09613}"/>
              </a:ext>
            </a:extLst>
          </p:cNvPr>
          <p:cNvSpPr txBox="1"/>
          <p:nvPr/>
        </p:nvSpPr>
        <p:spPr>
          <a:xfrm>
            <a:off x="6523884" y="947661"/>
            <a:ext cx="33152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Benefits</a:t>
            </a:r>
          </a:p>
        </p:txBody>
      </p:sp>
    </p:spTree>
    <p:extLst>
      <p:ext uri="{BB962C8B-B14F-4D97-AF65-F5344CB8AC3E}">
        <p14:creationId xmlns:p14="http://schemas.microsoft.com/office/powerpoint/2010/main" val="8427318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2D233F-C7D7-46E6-9DC3-7290DF6239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A4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AD154BD-51FE-43E1-BF84-E0F4DDC01BE5}"/>
              </a:ext>
            </a:extLst>
          </p:cNvPr>
          <p:cNvSpPr/>
          <p:nvPr/>
        </p:nvSpPr>
        <p:spPr>
          <a:xfrm>
            <a:off x="717282" y="-1083858"/>
            <a:ext cx="3456432" cy="2081463"/>
          </a:xfrm>
          <a:prstGeom prst="roundRect">
            <a:avLst/>
          </a:prstGeom>
          <a:solidFill>
            <a:srgbClr val="7105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89986A9-0E54-46DB-9514-2C0E2FA55DE1}"/>
              </a:ext>
            </a:extLst>
          </p:cNvPr>
          <p:cNvSpPr/>
          <p:nvPr/>
        </p:nvSpPr>
        <p:spPr>
          <a:xfrm>
            <a:off x="4367784" y="-1021040"/>
            <a:ext cx="3456432" cy="2084832"/>
          </a:xfrm>
          <a:prstGeom prst="roundRect">
            <a:avLst/>
          </a:prstGeom>
          <a:solidFill>
            <a:srgbClr val="B10B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099E328-5535-47C4-B1C6-65BF7E7AFEFA}"/>
              </a:ext>
            </a:extLst>
          </p:cNvPr>
          <p:cNvSpPr/>
          <p:nvPr/>
        </p:nvSpPr>
        <p:spPr>
          <a:xfrm>
            <a:off x="8018286" y="-1021040"/>
            <a:ext cx="3456432" cy="2084832"/>
          </a:xfrm>
          <a:prstGeom prst="roundRect">
            <a:avLst/>
          </a:prstGeom>
          <a:solidFill>
            <a:srgbClr val="CB1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DF2AC55-5EA9-4AF3-93D3-A9F01D64DC53}"/>
              </a:ext>
            </a:extLst>
          </p:cNvPr>
          <p:cNvSpPr/>
          <p:nvPr/>
        </p:nvSpPr>
        <p:spPr>
          <a:xfrm>
            <a:off x="8018286" y="5857026"/>
            <a:ext cx="3456432" cy="2084832"/>
          </a:xfrm>
          <a:prstGeom prst="roundRect">
            <a:avLst/>
          </a:prstGeom>
          <a:solidFill>
            <a:srgbClr val="B965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B7AE608-6BB2-4B84-87A3-740818548238}"/>
              </a:ext>
            </a:extLst>
          </p:cNvPr>
          <p:cNvSpPr/>
          <p:nvPr/>
        </p:nvSpPr>
        <p:spPr>
          <a:xfrm>
            <a:off x="4367784" y="5857026"/>
            <a:ext cx="3456432" cy="2084832"/>
          </a:xfrm>
          <a:prstGeom prst="roundRect">
            <a:avLst/>
          </a:prstGeom>
          <a:solidFill>
            <a:srgbClr val="DB45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3399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B9C95F2-DC25-4F7D-B3D6-45B217380EAC}"/>
              </a:ext>
            </a:extLst>
          </p:cNvPr>
          <p:cNvSpPr/>
          <p:nvPr/>
        </p:nvSpPr>
        <p:spPr>
          <a:xfrm>
            <a:off x="717282" y="5817268"/>
            <a:ext cx="3453516" cy="2081463"/>
          </a:xfrm>
          <a:prstGeom prst="roundRect">
            <a:avLst/>
          </a:prstGeom>
          <a:solidFill>
            <a:srgbClr val="FF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11B711-FC83-4E16-9AEC-892A6E0A4E36}"/>
              </a:ext>
            </a:extLst>
          </p:cNvPr>
          <p:cNvSpPr txBox="1"/>
          <p:nvPr/>
        </p:nvSpPr>
        <p:spPr>
          <a:xfrm>
            <a:off x="781679" y="2737134"/>
            <a:ext cx="1062864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b="1" dirty="0">
                <a:solidFill>
                  <a:srgbClr val="FF0066"/>
                </a:solidFill>
                <a:latin typeface="Arial Black" panose="020B0A040201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4092536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231</Words>
  <Application>Microsoft Office PowerPoint</Application>
  <PresentationFormat>Widescreen</PresentationFormat>
  <Paragraphs>58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Arial Black</vt:lpstr>
      <vt:lpstr>Calibri</vt:lpstr>
      <vt:lpstr>Calibri Light</vt:lpstr>
      <vt:lpstr>Century Gothic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magdalene zaki</dc:creator>
  <cp:lastModifiedBy>magdalene zaki</cp:lastModifiedBy>
  <cp:revision>26</cp:revision>
  <dcterms:created xsi:type="dcterms:W3CDTF">2026-02-11T13:35:30Z</dcterms:created>
  <dcterms:modified xsi:type="dcterms:W3CDTF">2026-02-13T07:53:52Z</dcterms:modified>
</cp:coreProperties>
</file>